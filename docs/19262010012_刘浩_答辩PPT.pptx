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8"/>
  </p:notesMasterIdLst>
  <p:sldIdLst>
    <p:sldId id="256" r:id="rId5"/>
    <p:sldId id="257" r:id="rId6"/>
    <p:sldId id="265" r:id="rId7"/>
    <p:sldId id="268" r:id="rId8"/>
    <p:sldId id="267" r:id="rId9"/>
    <p:sldId id="317" r:id="rId10"/>
    <p:sldId id="314" r:id="rId11"/>
    <p:sldId id="290" r:id="rId12"/>
    <p:sldId id="278" r:id="rId13"/>
    <p:sldId id="308" r:id="rId14"/>
    <p:sldId id="310" r:id="rId15"/>
    <p:sldId id="328" r:id="rId16"/>
    <p:sldId id="313" r:id="rId17"/>
    <p:sldId id="319" r:id="rId18"/>
    <p:sldId id="320" r:id="rId19"/>
    <p:sldId id="322" r:id="rId20"/>
    <p:sldId id="318" r:id="rId21"/>
    <p:sldId id="323" r:id="rId22"/>
    <p:sldId id="324" r:id="rId23"/>
    <p:sldId id="325" r:id="rId24"/>
    <p:sldId id="326" r:id="rId25"/>
    <p:sldId id="327" r:id="rId26"/>
    <p:sldId id="264" r:id="rId2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0">
          <p15:clr>
            <a:srgbClr val="A4A3A4"/>
          </p15:clr>
        </p15:guide>
        <p15:guide id="2" pos="293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88992" autoAdjust="0"/>
  </p:normalViewPr>
  <p:slideViewPr>
    <p:cSldViewPr>
      <p:cViewPr varScale="1">
        <p:scale>
          <a:sx n="102" d="100"/>
          <a:sy n="102" d="100"/>
        </p:scale>
        <p:origin x="1884" y="96"/>
      </p:cViewPr>
      <p:guideLst>
        <p:guide orient="horz" pos="2170"/>
        <p:guide pos="293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1B4CDC4-A5A2-43BD-B775-257B788F9621}" type="datetimeFigureOut">
              <a:rPr lang="zh-CN" altLang="en-US" smtClean="0"/>
              <a:t>2022/5/14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151665-0231-4F95-899C-4E035994564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151665-0231-4F95-899C-4E035994564C}" type="slidenum">
              <a:rPr lang="zh-CN" altLang="en-US" smtClean="0"/>
              <a:t>4</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1151665-0231-4F95-899C-4E035994564C}" type="slidenum">
              <a:rPr lang="zh-CN" altLang="en-US" smtClean="0"/>
              <a:t>6</a:t>
            </a:fld>
            <a:endParaRPr lang="zh-CN" altLang="en-US"/>
          </a:p>
        </p:txBody>
      </p:sp>
    </p:spTree>
    <p:extLst>
      <p:ext uri="{BB962C8B-B14F-4D97-AF65-F5344CB8AC3E}">
        <p14:creationId xmlns:p14="http://schemas.microsoft.com/office/powerpoint/2010/main" val="2459614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1151665-0231-4F95-899C-4E035994564C}" type="slidenum">
              <a:rPr lang="zh-CN" altLang="en-US" smtClean="0"/>
              <a:t>7</a:t>
            </a:fld>
            <a:endParaRPr lang="zh-CN" altLang="en-US"/>
          </a:p>
        </p:txBody>
      </p:sp>
    </p:spTree>
    <p:extLst>
      <p:ext uri="{BB962C8B-B14F-4D97-AF65-F5344CB8AC3E}">
        <p14:creationId xmlns:p14="http://schemas.microsoft.com/office/powerpoint/2010/main" val="251681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1151665-0231-4F95-899C-4E035994564C}" type="slidenum">
              <a:rPr lang="zh-CN" altLang="en-US" smtClean="0"/>
              <a:t>8</a:t>
            </a:fld>
            <a:endParaRPr lang="zh-CN" altLang="en-US"/>
          </a:p>
        </p:txBody>
      </p:sp>
    </p:spTree>
    <p:extLst>
      <p:ext uri="{BB962C8B-B14F-4D97-AF65-F5344CB8AC3E}">
        <p14:creationId xmlns:p14="http://schemas.microsoft.com/office/powerpoint/2010/main" val="624682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Squeeze-and-Excitation Networks</a:t>
            </a:r>
          </a:p>
          <a:p>
            <a:r>
              <a:rPr lang="en-US" altLang="zh-CN" dirty="0"/>
              <a:t>https://arxiv.org/pdf/1709.01507.pdf</a:t>
            </a:r>
            <a:endParaRPr lang="zh-CN" altLang="en-US" dirty="0"/>
          </a:p>
        </p:txBody>
      </p:sp>
      <p:sp>
        <p:nvSpPr>
          <p:cNvPr id="4" name="灯片编号占位符 3"/>
          <p:cNvSpPr>
            <a:spLocks noGrp="1"/>
          </p:cNvSpPr>
          <p:nvPr>
            <p:ph type="sldNum" sz="quarter" idx="5"/>
          </p:nvPr>
        </p:nvSpPr>
        <p:spPr/>
        <p:txBody>
          <a:bodyPr/>
          <a:lstStyle/>
          <a:p>
            <a:fld id="{21151665-0231-4F95-899C-4E035994564C}" type="slidenum">
              <a:rPr lang="zh-CN" altLang="en-US" smtClean="0"/>
              <a:t>10</a:t>
            </a:fld>
            <a:endParaRPr lang="zh-CN" altLang="en-US"/>
          </a:p>
        </p:txBody>
      </p:sp>
    </p:spTree>
    <p:extLst>
      <p:ext uri="{BB962C8B-B14F-4D97-AF65-F5344CB8AC3E}">
        <p14:creationId xmlns:p14="http://schemas.microsoft.com/office/powerpoint/2010/main" val="3117102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1151665-0231-4F95-899C-4E035994564C}" type="slidenum">
              <a:rPr lang="zh-CN" altLang="en-US" smtClean="0"/>
              <a:t>11</a:t>
            </a:fld>
            <a:endParaRPr lang="zh-CN" altLang="en-US"/>
          </a:p>
        </p:txBody>
      </p:sp>
    </p:spTree>
    <p:extLst>
      <p:ext uri="{BB962C8B-B14F-4D97-AF65-F5344CB8AC3E}">
        <p14:creationId xmlns:p14="http://schemas.microsoft.com/office/powerpoint/2010/main" val="2101179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1151665-0231-4F95-899C-4E035994564C}" type="slidenum">
              <a:rPr lang="zh-CN" altLang="en-US" smtClean="0"/>
              <a:t>13</a:t>
            </a:fld>
            <a:endParaRPr lang="zh-CN" altLang="en-US"/>
          </a:p>
        </p:txBody>
      </p:sp>
    </p:spTree>
    <p:extLst>
      <p:ext uri="{BB962C8B-B14F-4D97-AF65-F5344CB8AC3E}">
        <p14:creationId xmlns:p14="http://schemas.microsoft.com/office/powerpoint/2010/main" val="645824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8" name="标题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zh-CN" altLang="en-US"/>
              <a:t>单击此处编辑母版标题样式</a:t>
            </a:r>
            <a:endParaRPr kumimoji="0" lang="en-US"/>
          </a:p>
        </p:txBody>
      </p:sp>
      <p:sp>
        <p:nvSpPr>
          <p:cNvPr id="9" name="副标题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28" name="日期占位符 27"/>
          <p:cNvSpPr>
            <a:spLocks noGrp="1"/>
          </p:cNvSpPr>
          <p:nvPr>
            <p:ph type="dt" sz="half" idx="10"/>
          </p:nvPr>
        </p:nvSpPr>
        <p:spPr>
          <a:xfrm>
            <a:off x="6400800" y="6355080"/>
            <a:ext cx="2286000" cy="365760"/>
          </a:xfrm>
        </p:spPr>
        <p:txBody>
          <a:bodyPr/>
          <a:lstStyle>
            <a:lvl1pPr>
              <a:defRPr sz="1400"/>
            </a:lvl1pPr>
          </a:lstStyle>
          <a:p>
            <a:fld id="{509E9F7B-4E4D-4128-AE58-03BAB8E6D564}" type="datetime1">
              <a:rPr lang="zh-CN" altLang="en-US" smtClean="0"/>
              <a:t>2022/5/14</a:t>
            </a:fld>
            <a:endParaRPr lang="zh-CN" altLang="en-US"/>
          </a:p>
        </p:txBody>
      </p:sp>
      <p:sp>
        <p:nvSpPr>
          <p:cNvPr id="17" name="页脚占位符 16"/>
          <p:cNvSpPr>
            <a:spLocks noGrp="1"/>
          </p:cNvSpPr>
          <p:nvPr>
            <p:ph type="ftr" sz="quarter" idx="11"/>
          </p:nvPr>
        </p:nvSpPr>
        <p:spPr>
          <a:xfrm>
            <a:off x="2898648" y="6355080"/>
            <a:ext cx="3474720" cy="365760"/>
          </a:xfrm>
        </p:spPr>
        <p:txBody>
          <a:bodyPr/>
          <a:lstStyle/>
          <a:p>
            <a:r>
              <a:rPr lang="zh-CN" altLang="en-US"/>
              <a:t>黄思渊</a:t>
            </a:r>
          </a:p>
        </p:txBody>
      </p:sp>
      <p:sp>
        <p:nvSpPr>
          <p:cNvPr id="29" name="灯片编号占位符 28"/>
          <p:cNvSpPr>
            <a:spLocks noGrp="1"/>
          </p:cNvSpPr>
          <p:nvPr>
            <p:ph type="sldNum" sz="quarter" idx="12"/>
          </p:nvPr>
        </p:nvSpPr>
        <p:spPr>
          <a:xfrm>
            <a:off x="1216152" y="6355080"/>
            <a:ext cx="1219200" cy="365760"/>
          </a:xfrm>
        </p:spPr>
        <p:txBody>
          <a:bodyPr/>
          <a:lstStyle/>
          <a:p>
            <a:fld id="{6109356D-A228-4998-B89D-231CFF1B9545}" type="slidenum">
              <a:rPr lang="zh-CN" altLang="en-US" smtClean="0"/>
              <a:t>‹#›</a:t>
            </a:fld>
            <a:endParaRPr lang="zh-CN" altLang="en-US"/>
          </a:p>
        </p:txBody>
      </p:sp>
      <p:sp>
        <p:nvSpPr>
          <p:cNvPr id="21" name="矩形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矩形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矩形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4" name="日期占位符 3"/>
          <p:cNvSpPr>
            <a:spLocks noGrp="1"/>
          </p:cNvSpPr>
          <p:nvPr>
            <p:ph type="dt" sz="half" idx="10"/>
          </p:nvPr>
        </p:nvSpPr>
        <p:spPr/>
        <p:txBody>
          <a:bodyPr/>
          <a:lstStyle/>
          <a:p>
            <a:fld id="{A4D4D0FC-8814-4E6A-9C05-793E2F27E769}" type="datetime1">
              <a:rPr lang="zh-CN" altLang="en-US" smtClean="0"/>
              <a:t>2022/5/14</a:t>
            </a:fld>
            <a:endParaRPr lang="zh-CN" altLang="en-US"/>
          </a:p>
        </p:txBody>
      </p:sp>
      <p:sp>
        <p:nvSpPr>
          <p:cNvPr id="5" name="页脚占位符 4"/>
          <p:cNvSpPr>
            <a:spLocks noGrp="1"/>
          </p:cNvSpPr>
          <p:nvPr>
            <p:ph type="ftr" sz="quarter" idx="11"/>
          </p:nvPr>
        </p:nvSpPr>
        <p:spPr/>
        <p:txBody>
          <a:bodyPr/>
          <a:lstStyle/>
          <a:p>
            <a:r>
              <a:rPr lang="zh-CN" altLang="en-US"/>
              <a:t>黄思渊</a:t>
            </a:r>
          </a:p>
        </p:txBody>
      </p:sp>
      <p:sp>
        <p:nvSpPr>
          <p:cNvPr id="6" name="灯片编号占位符 5"/>
          <p:cNvSpPr>
            <a:spLocks noGrp="1"/>
          </p:cNvSpPr>
          <p:nvPr>
            <p:ph type="sldNum" sz="quarter" idx="12"/>
          </p:nvPr>
        </p:nvSpPr>
        <p:spPr/>
        <p:txBody>
          <a:bodyPr/>
          <a:lstStyle/>
          <a:p>
            <a:fld id="{6109356D-A228-4998-B89D-231CFF1B9545}" type="slidenum">
              <a:rPr lang="zh-CN" altLang="en-US" smtClean="0"/>
              <a:t>‹#›</a:t>
            </a:fld>
            <a:endParaRPr lang="zh-CN" altLang="en-US"/>
          </a:p>
        </p:txBody>
      </p:sp>
      <p:sp>
        <p:nvSpPr>
          <p:cNvPr id="8" name="内容占位符 7"/>
          <p:cNvSpPr>
            <a:spLocks noGrp="1"/>
          </p:cNvSpPr>
          <p:nvPr>
            <p:ph sz="quarter" idx="1"/>
          </p:nvPr>
        </p:nvSpPr>
        <p:spPr>
          <a:xfrm>
            <a:off x="457200" y="1219200"/>
            <a:ext cx="8229600" cy="493776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1">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a:xfrm>
            <a:off x="6400800" y="6355080"/>
            <a:ext cx="2286000" cy="365760"/>
          </a:xfrm>
        </p:spPr>
        <p:txBody>
          <a:bodyPr/>
          <a:lstStyle/>
          <a:p>
            <a:fld id="{9D589E18-406F-4FF9-8490-F991F5F6BDEB}" type="datetime1">
              <a:rPr lang="zh-CN" altLang="en-US" smtClean="0"/>
              <a:t>2022/5/14</a:t>
            </a:fld>
            <a:endParaRPr lang="zh-CN" altLang="en-US"/>
          </a:p>
        </p:txBody>
      </p:sp>
      <p:sp>
        <p:nvSpPr>
          <p:cNvPr id="5" name="页脚占位符 4"/>
          <p:cNvSpPr>
            <a:spLocks noGrp="1"/>
          </p:cNvSpPr>
          <p:nvPr>
            <p:ph type="ftr" sz="quarter" idx="11"/>
          </p:nvPr>
        </p:nvSpPr>
        <p:spPr>
          <a:xfrm>
            <a:off x="2898648" y="6355080"/>
            <a:ext cx="3474720" cy="365760"/>
          </a:xfrm>
        </p:spPr>
        <p:txBody>
          <a:bodyPr/>
          <a:lstStyle/>
          <a:p>
            <a:r>
              <a:rPr lang="zh-CN" altLang="en-US"/>
              <a:t>黄思渊</a:t>
            </a:r>
          </a:p>
        </p:txBody>
      </p:sp>
      <p:sp>
        <p:nvSpPr>
          <p:cNvPr id="6" name="灯片编号占位符 5"/>
          <p:cNvSpPr>
            <a:spLocks noGrp="1"/>
          </p:cNvSpPr>
          <p:nvPr>
            <p:ph type="sldNum" sz="quarter" idx="12"/>
          </p:nvPr>
        </p:nvSpPr>
        <p:spPr>
          <a:xfrm>
            <a:off x="1069848" y="6355080"/>
            <a:ext cx="1520952" cy="365760"/>
          </a:xfrm>
        </p:spPr>
        <p:txBody>
          <a:bodyPr/>
          <a:lstStyle/>
          <a:p>
            <a:fld id="{6109356D-A228-4998-B89D-231CFF1B9545}" type="slidenum">
              <a:rPr lang="zh-CN" altLang="en-US" smtClean="0"/>
              <a:t>‹#›</a:t>
            </a:fld>
            <a:endParaRPr lang="zh-CN" altLang="en-US"/>
          </a:p>
        </p:txBody>
      </p:sp>
      <p:sp>
        <p:nvSpPr>
          <p:cNvPr id="7" name="矩形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14400"/>
          </a:xfrm>
        </p:spPr>
        <p:txBody>
          <a:body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fld id="{517EB034-1B06-41D8-B611-0616C657A348}" type="datetime1">
              <a:rPr lang="zh-CN" altLang="en-US" smtClean="0"/>
              <a:t>2022/5/14</a:t>
            </a:fld>
            <a:endParaRPr lang="zh-CN" altLang="en-US"/>
          </a:p>
        </p:txBody>
      </p:sp>
      <p:sp>
        <p:nvSpPr>
          <p:cNvPr id="6" name="页脚占位符 5"/>
          <p:cNvSpPr>
            <a:spLocks noGrp="1"/>
          </p:cNvSpPr>
          <p:nvPr>
            <p:ph type="ftr" sz="quarter" idx="11"/>
          </p:nvPr>
        </p:nvSpPr>
        <p:spPr/>
        <p:txBody>
          <a:bodyPr/>
          <a:lstStyle/>
          <a:p>
            <a:r>
              <a:rPr lang="zh-CN" altLang="en-US"/>
              <a:t>黄思渊</a:t>
            </a:r>
          </a:p>
        </p:txBody>
      </p:sp>
      <p:sp>
        <p:nvSpPr>
          <p:cNvPr id="7" name="灯片编号占位符 6"/>
          <p:cNvSpPr>
            <a:spLocks noGrp="1"/>
          </p:cNvSpPr>
          <p:nvPr>
            <p:ph type="sldNum" sz="quarter" idx="12"/>
          </p:nvPr>
        </p:nvSpPr>
        <p:spPr/>
        <p:txBody>
          <a:bodyPr/>
          <a:lstStyle/>
          <a:p>
            <a:fld id="{6109356D-A228-4998-B89D-231CFF1B9545}" type="slidenum">
              <a:rPr lang="zh-CN" altLang="en-US" smtClean="0"/>
              <a:t>‹#›</a:t>
            </a:fld>
            <a:endParaRPr lang="zh-CN" altLang="en-US"/>
          </a:p>
        </p:txBody>
      </p:sp>
      <p:sp>
        <p:nvSpPr>
          <p:cNvPr id="9" name="内容占位符 8"/>
          <p:cNvSpPr>
            <a:spLocks noGrp="1"/>
          </p:cNvSpPr>
          <p:nvPr>
            <p:ph sz="quarter" idx="1"/>
          </p:nvPr>
        </p:nvSpPr>
        <p:spPr>
          <a:xfrm>
            <a:off x="457200" y="1219200"/>
            <a:ext cx="4041648" cy="493776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1" name="内容占位符 10"/>
          <p:cNvSpPr>
            <a:spLocks noGrp="1"/>
          </p:cNvSpPr>
          <p:nvPr>
            <p:ph sz="quarter" idx="2"/>
          </p:nvPr>
        </p:nvSpPr>
        <p:spPr>
          <a:xfrm>
            <a:off x="4632198" y="1216152"/>
            <a:ext cx="4041648" cy="493776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14400"/>
          </a:xfrm>
        </p:spPr>
        <p:txBody>
          <a:bodyPr anchor="ct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7" name="日期占位符 6"/>
          <p:cNvSpPr>
            <a:spLocks noGrp="1"/>
          </p:cNvSpPr>
          <p:nvPr>
            <p:ph type="dt" sz="half" idx="10"/>
          </p:nvPr>
        </p:nvSpPr>
        <p:spPr/>
        <p:txBody>
          <a:bodyPr/>
          <a:lstStyle/>
          <a:p>
            <a:fld id="{00C11A1B-1551-4F22-B382-29C0D3EB78D5}" type="datetime1">
              <a:rPr lang="zh-CN" altLang="en-US" smtClean="0"/>
              <a:t>2022/5/14</a:t>
            </a:fld>
            <a:endParaRPr lang="zh-CN" altLang="en-US"/>
          </a:p>
        </p:txBody>
      </p:sp>
      <p:sp>
        <p:nvSpPr>
          <p:cNvPr id="8" name="页脚占位符 7"/>
          <p:cNvSpPr>
            <a:spLocks noGrp="1"/>
          </p:cNvSpPr>
          <p:nvPr>
            <p:ph type="ftr" sz="quarter" idx="11"/>
          </p:nvPr>
        </p:nvSpPr>
        <p:spPr/>
        <p:txBody>
          <a:bodyPr/>
          <a:lstStyle/>
          <a:p>
            <a:r>
              <a:rPr lang="zh-CN" altLang="en-US"/>
              <a:t>黄思渊</a:t>
            </a:r>
          </a:p>
        </p:txBody>
      </p:sp>
      <p:sp>
        <p:nvSpPr>
          <p:cNvPr id="9" name="灯片编号占位符 8"/>
          <p:cNvSpPr>
            <a:spLocks noGrp="1"/>
          </p:cNvSpPr>
          <p:nvPr>
            <p:ph type="sldNum" sz="quarter" idx="12"/>
          </p:nvPr>
        </p:nvSpPr>
        <p:spPr/>
        <p:txBody>
          <a:bodyPr/>
          <a:lstStyle/>
          <a:p>
            <a:fld id="{6109356D-A228-4998-B89D-231CFF1B9545}" type="slidenum">
              <a:rPr lang="zh-CN" altLang="en-US" smtClean="0"/>
              <a:t>‹#›</a:t>
            </a:fld>
            <a:endParaRPr lang="zh-CN" altLang="en-US"/>
          </a:p>
        </p:txBody>
      </p:sp>
      <p:sp>
        <p:nvSpPr>
          <p:cNvPr id="11" name="内容占位符 10"/>
          <p:cNvSpPr>
            <a:spLocks noGrp="1"/>
          </p:cNvSpPr>
          <p:nvPr>
            <p:ph sz="quarter" idx="2"/>
          </p:nvPr>
        </p:nvSpPr>
        <p:spPr>
          <a:xfrm>
            <a:off x="457200" y="2133600"/>
            <a:ext cx="4038600" cy="40386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quarter" idx="4"/>
          </p:nvPr>
        </p:nvSpPr>
        <p:spPr>
          <a:xfrm>
            <a:off x="4648200" y="2133600"/>
            <a:ext cx="4038600" cy="40386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14400"/>
          </a:xfrm>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F36747C7-9B37-413E-9191-74D6EE6DD5CB}" type="datetime1">
              <a:rPr lang="zh-CN" altLang="en-US" smtClean="0"/>
              <a:t>2022/5/14</a:t>
            </a:fld>
            <a:endParaRPr lang="zh-CN" altLang="en-US"/>
          </a:p>
        </p:txBody>
      </p:sp>
      <p:sp>
        <p:nvSpPr>
          <p:cNvPr id="4" name="页脚占位符 3"/>
          <p:cNvSpPr>
            <a:spLocks noGrp="1"/>
          </p:cNvSpPr>
          <p:nvPr>
            <p:ph type="ftr" sz="quarter" idx="11"/>
          </p:nvPr>
        </p:nvSpPr>
        <p:spPr/>
        <p:txBody>
          <a:bodyPr/>
          <a:lstStyle/>
          <a:p>
            <a:r>
              <a:rPr lang="zh-CN" altLang="en-US"/>
              <a:t>黄思渊</a:t>
            </a:r>
          </a:p>
        </p:txBody>
      </p:sp>
      <p:sp>
        <p:nvSpPr>
          <p:cNvPr id="5" name="灯片编号占位符 4"/>
          <p:cNvSpPr>
            <a:spLocks noGrp="1"/>
          </p:cNvSpPr>
          <p:nvPr>
            <p:ph type="sldNum" sz="quarter" idx="12"/>
          </p:nvPr>
        </p:nvSpPr>
        <p:spPr/>
        <p:txBody>
          <a:bodyPr/>
          <a:lstStyle/>
          <a:p>
            <a:fld id="{6109356D-A228-4998-B89D-231CFF1B9545}" type="slidenum">
              <a:rPr lang="zh-CN" altLang="en-US" smtClean="0"/>
              <a:t>‹#›</a:t>
            </a:fld>
            <a:endParaRPr lang="zh-CN" alt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C1C2E8A-49EE-4E58-87CC-6529B9BD84DF}" type="datetime1">
              <a:rPr lang="zh-CN" altLang="en-US" smtClean="0"/>
              <a:t>2022/5/14</a:t>
            </a:fld>
            <a:endParaRPr lang="zh-CN" altLang="en-US"/>
          </a:p>
        </p:txBody>
      </p:sp>
      <p:sp>
        <p:nvSpPr>
          <p:cNvPr id="3" name="页脚占位符 2"/>
          <p:cNvSpPr>
            <a:spLocks noGrp="1"/>
          </p:cNvSpPr>
          <p:nvPr>
            <p:ph type="ftr" sz="quarter" idx="11"/>
          </p:nvPr>
        </p:nvSpPr>
        <p:spPr/>
        <p:txBody>
          <a:bodyPr/>
          <a:lstStyle/>
          <a:p>
            <a:r>
              <a:rPr lang="zh-CN" altLang="en-US"/>
              <a:t>黄思渊</a:t>
            </a:r>
          </a:p>
        </p:txBody>
      </p:sp>
      <p:sp>
        <p:nvSpPr>
          <p:cNvPr id="4" name="灯片编号占位符 3"/>
          <p:cNvSpPr>
            <a:spLocks noGrp="1"/>
          </p:cNvSpPr>
          <p:nvPr>
            <p:ph type="sldNum" sz="quarter" idx="12"/>
          </p:nvPr>
        </p:nvSpPr>
        <p:spPr/>
        <p:txBody>
          <a:bodyPr/>
          <a:lstStyle/>
          <a:p>
            <a:fld id="{6109356D-A228-4998-B89D-231CFF1B9545}" type="slidenum">
              <a:rPr lang="zh-CN" altLang="en-US" smtClean="0"/>
              <a:t>‹#›</a:t>
            </a:fld>
            <a:endParaRPr lang="zh-CN" altLang="en-US"/>
          </a:p>
        </p:txBody>
      </p:sp>
      <p:sp>
        <p:nvSpPr>
          <p:cNvPr id="5" name="直接连接符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p:txBody>
          <a:bodyPr/>
          <a:lstStyle/>
          <a:p>
            <a:fld id="{326B1F08-C4AA-4AEE-86FF-705AB6BD9FD8}" type="datetime1">
              <a:rPr lang="zh-CN" altLang="en-US" smtClean="0"/>
              <a:t>2022/5/14</a:t>
            </a:fld>
            <a:endParaRPr lang="zh-CN" altLang="en-US"/>
          </a:p>
        </p:txBody>
      </p:sp>
      <p:sp>
        <p:nvSpPr>
          <p:cNvPr id="6" name="页脚占位符 5"/>
          <p:cNvSpPr>
            <a:spLocks noGrp="1"/>
          </p:cNvSpPr>
          <p:nvPr>
            <p:ph type="ftr" sz="quarter" idx="11"/>
          </p:nvPr>
        </p:nvSpPr>
        <p:spPr/>
        <p:txBody>
          <a:bodyPr/>
          <a:lstStyle/>
          <a:p>
            <a:r>
              <a:rPr lang="zh-CN" altLang="en-US"/>
              <a:t>黄思渊</a:t>
            </a:r>
          </a:p>
        </p:txBody>
      </p:sp>
      <p:sp>
        <p:nvSpPr>
          <p:cNvPr id="7" name="灯片编号占位符 6"/>
          <p:cNvSpPr>
            <a:spLocks noGrp="1"/>
          </p:cNvSpPr>
          <p:nvPr>
            <p:ph type="sldNum" sz="quarter" idx="12"/>
          </p:nvPr>
        </p:nvSpPr>
        <p:spPr/>
        <p:txBody>
          <a:bodyPr/>
          <a:lstStyle/>
          <a:p>
            <a:fld id="{6109356D-A228-4998-B89D-231CFF1B9545}" type="slidenum">
              <a:rPr lang="zh-CN" altLang="en-US" smtClean="0"/>
              <a:t>‹#›</a:t>
            </a:fld>
            <a:endParaRPr lang="zh-CN" altLang="en-US"/>
          </a:p>
        </p:txBody>
      </p:sp>
      <p:sp>
        <p:nvSpPr>
          <p:cNvPr id="8" name="直接连接符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直接连接符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内容占位符 11"/>
          <p:cNvSpPr>
            <a:spLocks noGrp="1"/>
          </p:cNvSpPr>
          <p:nvPr>
            <p:ph sz="quarter" idx="1"/>
          </p:nvPr>
        </p:nvSpPr>
        <p:spPr>
          <a:xfrm>
            <a:off x="304800" y="304800"/>
            <a:ext cx="5715000" cy="57150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1">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zh-CN" altLang="en-US"/>
              <a:t>单击图标添加图片</a:t>
            </a:r>
            <a:endParaRPr kumimoji="0" lang="en-US" dirty="0"/>
          </a:p>
        </p:txBody>
      </p:sp>
      <p:sp>
        <p:nvSpPr>
          <p:cNvPr id="4" name="文本占位符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p:txBody>
          <a:bodyPr/>
          <a:lstStyle/>
          <a:p>
            <a:fld id="{C491A55D-B542-4A31-8761-5107102004E0}" type="datetime1">
              <a:rPr lang="zh-CN" altLang="en-US" smtClean="0"/>
              <a:t>2022/5/14</a:t>
            </a:fld>
            <a:endParaRPr lang="zh-CN" altLang="en-US"/>
          </a:p>
        </p:txBody>
      </p:sp>
      <p:sp>
        <p:nvSpPr>
          <p:cNvPr id="6" name="页脚占位符 5"/>
          <p:cNvSpPr>
            <a:spLocks noGrp="1"/>
          </p:cNvSpPr>
          <p:nvPr>
            <p:ph type="ftr" sz="quarter" idx="11"/>
          </p:nvPr>
        </p:nvSpPr>
        <p:spPr/>
        <p:txBody>
          <a:bodyPr/>
          <a:lstStyle/>
          <a:p>
            <a:r>
              <a:rPr lang="zh-CN" altLang="en-US"/>
              <a:t>黄思渊</a:t>
            </a:r>
          </a:p>
        </p:txBody>
      </p:sp>
      <p:sp>
        <p:nvSpPr>
          <p:cNvPr id="7" name="灯片编号占位符 6"/>
          <p:cNvSpPr>
            <a:spLocks noGrp="1"/>
          </p:cNvSpPr>
          <p:nvPr>
            <p:ph type="sldNum" sz="quarter" idx="12"/>
          </p:nvPr>
        </p:nvSpPr>
        <p:spPr/>
        <p:txBody>
          <a:bodyPr/>
          <a:lstStyle/>
          <a:p>
            <a:fld id="{6109356D-A228-4998-B89D-231CFF1B9545}" type="slidenum">
              <a:rPr lang="zh-CN" altLang="en-US" smtClean="0"/>
              <a:t>‹#›</a:t>
            </a:fld>
            <a:endParaRPr lang="zh-CN" altLang="en-US"/>
          </a:p>
        </p:txBody>
      </p:sp>
      <p:sp>
        <p:nvSpPr>
          <p:cNvPr id="8" name="直接连接符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FC1DBEF9-6316-49D7-AF04-0C5F6D490D53}" type="datetime1">
              <a:rPr lang="zh-CN" altLang="en-US" smtClean="0"/>
              <a:t>2022/5/14</a:t>
            </a:fld>
            <a:endParaRPr lang="zh-CN" altLang="en-US"/>
          </a:p>
        </p:txBody>
      </p:sp>
      <p:sp>
        <p:nvSpPr>
          <p:cNvPr id="5" name="页脚占位符 4"/>
          <p:cNvSpPr>
            <a:spLocks noGrp="1"/>
          </p:cNvSpPr>
          <p:nvPr>
            <p:ph type="ftr" sz="quarter" idx="11"/>
          </p:nvPr>
        </p:nvSpPr>
        <p:spPr/>
        <p:txBody>
          <a:bodyPr/>
          <a:lstStyle/>
          <a:p>
            <a:r>
              <a:rPr lang="zh-CN" altLang="en-US"/>
              <a:t>黄思渊</a:t>
            </a:r>
          </a:p>
        </p:txBody>
      </p:sp>
      <p:sp>
        <p:nvSpPr>
          <p:cNvPr id="6" name="灯片编号占位符 5"/>
          <p:cNvSpPr>
            <a:spLocks noGrp="1"/>
          </p:cNvSpPr>
          <p:nvPr>
            <p:ph type="sldNum" sz="quarter" idx="12"/>
          </p:nvPr>
        </p:nvSpPr>
        <p:spPr/>
        <p:txBody>
          <a:bodyPr/>
          <a:lstStyle/>
          <a:p>
            <a:fld id="{6109356D-A228-4998-B89D-231CFF1B954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0198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00560DB-8E6B-4CBE-A4AC-F0B248F2D0CA}" type="datetime1">
              <a:rPr lang="zh-CN" altLang="en-US" smtClean="0"/>
              <a:t>2022/5/14</a:t>
            </a:fld>
            <a:endParaRPr lang="zh-CN" altLang="en-US"/>
          </a:p>
        </p:txBody>
      </p:sp>
      <p:sp>
        <p:nvSpPr>
          <p:cNvPr id="5" name="页脚占位符 4"/>
          <p:cNvSpPr>
            <a:spLocks noGrp="1"/>
          </p:cNvSpPr>
          <p:nvPr>
            <p:ph type="ftr" sz="quarter" idx="11"/>
          </p:nvPr>
        </p:nvSpPr>
        <p:spPr/>
        <p:txBody>
          <a:bodyPr/>
          <a:lstStyle/>
          <a:p>
            <a:r>
              <a:rPr lang="zh-CN" altLang="en-US"/>
              <a:t>黄思渊</a:t>
            </a:r>
          </a:p>
        </p:txBody>
      </p:sp>
      <p:sp>
        <p:nvSpPr>
          <p:cNvPr id="6" name="灯片编号占位符 5"/>
          <p:cNvSpPr>
            <a:spLocks noGrp="1"/>
          </p:cNvSpPr>
          <p:nvPr>
            <p:ph type="sldNum" sz="quarter" idx="12"/>
          </p:nvPr>
        </p:nvSpPr>
        <p:spPr/>
        <p:txBody>
          <a:bodyPr/>
          <a:lstStyle/>
          <a:p>
            <a:fld id="{6109356D-A228-4998-B89D-231CFF1B9545}" type="slidenum">
              <a:rPr lang="zh-CN" altLang="en-US" smtClean="0"/>
              <a:t>‹#›</a:t>
            </a:fld>
            <a:endParaRPr lang="zh-CN" altLang="en-US"/>
          </a:p>
        </p:txBody>
      </p:sp>
      <p:sp>
        <p:nvSpPr>
          <p:cNvPr id="7" name="直接连接符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等腰三角形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接连接符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457200" y="152400"/>
            <a:ext cx="8229600" cy="990600"/>
          </a:xfrm>
          <a:prstGeom prst="rect">
            <a:avLst/>
          </a:prstGeom>
        </p:spPr>
        <p:txBody>
          <a:bodyPr vert="horz" anchor="b" anchorCtr="0">
            <a:normAutofit/>
          </a:body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4" name="日期占位符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25FD9862-60EE-43D3-8E0E-766395047131}" type="datetime1">
              <a:rPr lang="zh-CN" altLang="en-US" smtClean="0"/>
              <a:t>2022/5/14</a:t>
            </a:fld>
            <a:endParaRPr lang="zh-CN" altLang="en-US"/>
          </a:p>
        </p:txBody>
      </p:sp>
      <p:sp>
        <p:nvSpPr>
          <p:cNvPr id="3" name="页脚占位符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zh-CN" altLang="en-US"/>
              <a:t>黄思渊</a:t>
            </a:r>
          </a:p>
        </p:txBody>
      </p:sp>
      <p:sp>
        <p:nvSpPr>
          <p:cNvPr id="23" name="灯片编号占位符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6109356D-A228-4998-B89D-231CFF1B9545}" type="slidenum">
              <a:rPr lang="zh-CN" altLang="en-US" smtClean="0"/>
              <a:t>‹#›</a:t>
            </a:fld>
            <a:endParaRPr lang="zh-CN" altLang="en-US"/>
          </a:p>
        </p:txBody>
      </p:sp>
      <p:sp>
        <p:nvSpPr>
          <p:cNvPr id="28" name="直接连接符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直接连接符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等腰三角形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3785235"/>
            <a:ext cx="6934200" cy="990600"/>
          </a:xfrm>
        </p:spPr>
        <p:txBody>
          <a:bodyPr>
            <a:normAutofit/>
          </a:bodyPr>
          <a:lstStyle/>
          <a:p>
            <a:r>
              <a:rPr lang="zh-CN" altLang="zh-CN" sz="2800" dirty="0">
                <a:latin typeface="+mj-ea"/>
              </a:rPr>
              <a:t>基于</a:t>
            </a:r>
            <a:r>
              <a:rPr lang="en-US" altLang="zh-CN" sz="2800" dirty="0">
                <a:latin typeface="+mj-ea"/>
              </a:rPr>
              <a:t>CNN</a:t>
            </a:r>
            <a:r>
              <a:rPr lang="zh-CN" altLang="zh-CN" sz="2800" dirty="0">
                <a:latin typeface="+mj-ea"/>
              </a:rPr>
              <a:t>与</a:t>
            </a:r>
            <a:r>
              <a:rPr lang="en-US" altLang="zh-CN" sz="2800" dirty="0" err="1">
                <a:latin typeface="+mj-ea"/>
              </a:rPr>
              <a:t>SENet</a:t>
            </a:r>
            <a:r>
              <a:rPr lang="zh-CN" altLang="zh-CN" sz="2800" dirty="0">
                <a:latin typeface="+mj-ea"/>
              </a:rPr>
              <a:t>的</a:t>
            </a:r>
            <a:r>
              <a:rPr lang="en-US" altLang="zh-CN" sz="2800" dirty="0">
                <a:latin typeface="+mj-ea"/>
              </a:rPr>
              <a:t>Transformer</a:t>
            </a:r>
            <a:r>
              <a:rPr lang="zh-CN" altLang="zh-CN" sz="2800" dirty="0">
                <a:latin typeface="+mj-ea"/>
              </a:rPr>
              <a:t>短文本分类方法研究</a:t>
            </a:r>
            <a:endParaRPr lang="zh-CN" altLang="en-US" sz="2800" dirty="0">
              <a:latin typeface="+mj-ea"/>
            </a:endParaRPr>
          </a:p>
        </p:txBody>
      </p:sp>
      <p:sp>
        <p:nvSpPr>
          <p:cNvPr id="3" name="副标题 2"/>
          <p:cNvSpPr>
            <a:spLocks noGrp="1"/>
          </p:cNvSpPr>
          <p:nvPr>
            <p:ph type="subTitle" idx="1"/>
          </p:nvPr>
        </p:nvSpPr>
        <p:spPr/>
        <p:txBody>
          <a:bodyPr/>
          <a:lstStyle/>
          <a:p>
            <a:r>
              <a:rPr lang="zh-CN" altLang="en-US" dirty="0">
                <a:latin typeface="+mj-ea"/>
              </a:rPr>
              <a:t> </a:t>
            </a:r>
            <a:r>
              <a:rPr lang="en-US" altLang="zh-CN" dirty="0">
                <a:latin typeface="+mj-ea"/>
              </a:rPr>
              <a:t> </a:t>
            </a:r>
            <a:r>
              <a:rPr lang="zh-CN" altLang="en-US" dirty="0">
                <a:latin typeface="+mj-ea"/>
              </a:rPr>
              <a:t>论文答辩报告</a:t>
            </a:r>
            <a:endParaRPr lang="en-US" altLang="zh-CN" dirty="0">
              <a:latin typeface="+mj-ea"/>
            </a:endParaRPr>
          </a:p>
          <a:p>
            <a:endParaRPr lang="zh-CN" altLang="en-US" dirty="0"/>
          </a:p>
        </p:txBody>
      </p:sp>
      <p:sp>
        <p:nvSpPr>
          <p:cNvPr id="4" name="页脚占位符 3"/>
          <p:cNvSpPr>
            <a:spLocks noGrp="1"/>
          </p:cNvSpPr>
          <p:nvPr>
            <p:ph type="ftr" sz="quarter" idx="11"/>
          </p:nvPr>
        </p:nvSpPr>
        <p:spPr/>
        <p:txBody>
          <a:bodyPr/>
          <a:lstStyle/>
          <a:p>
            <a:pPr algn="ctr"/>
            <a:r>
              <a:rPr lang="zh-CN" altLang="en-US"/>
              <a:t>刘浩</a:t>
            </a:r>
          </a:p>
        </p:txBody>
      </p:sp>
      <p:sp>
        <p:nvSpPr>
          <p:cNvPr id="5" name="灯片编号占位符 4"/>
          <p:cNvSpPr>
            <a:spLocks noGrp="1"/>
          </p:cNvSpPr>
          <p:nvPr>
            <p:ph type="sldNum" sz="quarter" idx="12"/>
          </p:nvPr>
        </p:nvSpPr>
        <p:spPr/>
        <p:txBody>
          <a:bodyPr/>
          <a:lstStyle/>
          <a:p>
            <a:fld id="{6109356D-A228-4998-B89D-231CFF1B9545}" type="slidenum">
              <a:rPr lang="zh-CN" altLang="en-US" smtClean="0"/>
              <a:t>1</a:t>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目录</a:t>
            </a:r>
          </a:p>
        </p:txBody>
      </p:sp>
      <p:sp>
        <p:nvSpPr>
          <p:cNvPr id="3" name="页脚占位符 2"/>
          <p:cNvSpPr>
            <a:spLocks noGrp="1"/>
          </p:cNvSpPr>
          <p:nvPr>
            <p:ph type="ftr" sz="quarter" idx="11"/>
          </p:nvPr>
        </p:nvSpPr>
        <p:spPr/>
        <p:txBody>
          <a:bodyPr/>
          <a:lstStyle/>
          <a:p>
            <a:pPr algn="ctr"/>
            <a:r>
              <a:rPr lang="zh-CN" altLang="en-US"/>
              <a:t>刘浩</a:t>
            </a:r>
          </a:p>
        </p:txBody>
      </p:sp>
      <p:sp>
        <p:nvSpPr>
          <p:cNvPr id="4" name="灯片编号占位符 3"/>
          <p:cNvSpPr>
            <a:spLocks noGrp="1"/>
          </p:cNvSpPr>
          <p:nvPr>
            <p:ph type="sldNum" sz="quarter" idx="12"/>
          </p:nvPr>
        </p:nvSpPr>
        <p:spPr/>
        <p:txBody>
          <a:bodyPr/>
          <a:lstStyle/>
          <a:p>
            <a:fld id="{6109356D-A228-4998-B89D-231CFF1B9545}" type="slidenum">
              <a:rPr lang="zh-CN" altLang="en-US" smtClean="0"/>
              <a:t>2</a:t>
            </a:fld>
            <a:endParaRPr lang="zh-CN" altLang="en-US"/>
          </a:p>
        </p:txBody>
      </p:sp>
      <p:sp>
        <p:nvSpPr>
          <p:cNvPr id="5" name="内容占位符 4"/>
          <p:cNvSpPr>
            <a:spLocks noGrp="1"/>
          </p:cNvSpPr>
          <p:nvPr>
            <p:ph sz="quarter" idx="1"/>
          </p:nvPr>
        </p:nvSpPr>
        <p:spPr/>
        <p:txBody>
          <a:bodyPr>
            <a:normAutofit/>
          </a:bodyPr>
          <a:lstStyle/>
          <a:p>
            <a:pPr>
              <a:buFont typeface="Wingdings" panose="05000000000000000000" pitchFamily="2" charset="2"/>
              <a:buChar char="Ø"/>
            </a:pPr>
            <a:r>
              <a:rPr lang="zh-CN" altLang="en-US" sz="2400" dirty="0">
                <a:latin typeface="+mj-ea"/>
                <a:ea typeface="+mj-ea"/>
              </a:rPr>
              <a:t>研究背景</a:t>
            </a:r>
            <a:endParaRPr lang="en-US" altLang="zh-CN" sz="2400" dirty="0">
              <a:latin typeface="+mj-ea"/>
              <a:ea typeface="+mj-ea"/>
            </a:endParaRPr>
          </a:p>
          <a:p>
            <a:pPr>
              <a:buFont typeface="Wingdings" panose="05000000000000000000" pitchFamily="2" charset="2"/>
              <a:buChar char="Ø"/>
            </a:pPr>
            <a:r>
              <a:rPr lang="zh-CN" altLang="en-US" sz="2400" dirty="0">
                <a:latin typeface="+mj-ea"/>
                <a:ea typeface="+mj-ea"/>
              </a:rPr>
              <a:t>研究目标</a:t>
            </a:r>
          </a:p>
          <a:p>
            <a:pPr>
              <a:buFont typeface="Wingdings" panose="05000000000000000000" pitchFamily="2" charset="2"/>
              <a:buChar char="Ø"/>
            </a:pPr>
            <a:r>
              <a:rPr lang="zh-CN" altLang="en-US" sz="2400" dirty="0">
                <a:latin typeface="+mj-ea"/>
                <a:ea typeface="+mj-ea"/>
                <a:sym typeface="+mn-ea"/>
              </a:rPr>
              <a:t>研究挑战</a:t>
            </a:r>
          </a:p>
          <a:p>
            <a:pPr>
              <a:buFont typeface="Wingdings" panose="05000000000000000000" pitchFamily="2" charset="2"/>
              <a:buChar char="Ø"/>
            </a:pPr>
            <a:r>
              <a:rPr lang="zh-CN" altLang="en-US" sz="2400" dirty="0">
                <a:latin typeface="+mj-ea"/>
                <a:ea typeface="+mj-ea"/>
                <a:sym typeface="+mn-ea"/>
              </a:rPr>
              <a:t>研究内容</a:t>
            </a:r>
            <a:endParaRPr lang="en-US" altLang="zh-CN" sz="2400" dirty="0">
              <a:latin typeface="+mj-ea"/>
              <a:ea typeface="+mj-ea"/>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sz="2800" dirty="0">
                <a:sym typeface="+mn-ea"/>
              </a:rPr>
              <a:t>研究背景</a:t>
            </a:r>
            <a:endParaRPr lang="zh-CN" altLang="en-US" sz="2800" dirty="0"/>
          </a:p>
        </p:txBody>
      </p:sp>
      <p:sp>
        <p:nvSpPr>
          <p:cNvPr id="7" name="文本占位符 6"/>
          <p:cNvSpPr>
            <a:spLocks noGrp="1"/>
          </p:cNvSpPr>
          <p:nvPr>
            <p:ph type="body" idx="1"/>
          </p:nvPr>
        </p:nvSpPr>
        <p:spPr/>
        <p:txBody>
          <a:bodyPr/>
          <a:lstStyle/>
          <a:p>
            <a:r>
              <a:rPr lang="zh-CN" altLang="en-US" dirty="0">
                <a:solidFill>
                  <a:schemeClr val="tx1"/>
                </a:solidFill>
              </a:rPr>
              <a:t>回复用户邮件</a:t>
            </a:r>
          </a:p>
        </p:txBody>
      </p:sp>
      <p:sp>
        <p:nvSpPr>
          <p:cNvPr id="8" name="文本占位符 7"/>
          <p:cNvSpPr>
            <a:spLocks noGrp="1"/>
          </p:cNvSpPr>
          <p:nvPr>
            <p:ph type="body" sz="half" idx="3"/>
          </p:nvPr>
        </p:nvSpPr>
        <p:spPr/>
        <p:txBody>
          <a:bodyPr/>
          <a:lstStyle/>
          <a:p>
            <a:r>
              <a:rPr lang="zh-CN" altLang="en-US" dirty="0">
                <a:solidFill>
                  <a:schemeClr val="tx1"/>
                </a:solidFill>
              </a:rPr>
              <a:t>创建</a:t>
            </a:r>
            <a:r>
              <a:rPr lang="en-US" altLang="zh-CN" dirty="0">
                <a:solidFill>
                  <a:schemeClr val="tx1"/>
                </a:solidFill>
              </a:rPr>
              <a:t>Request Ticket</a:t>
            </a:r>
          </a:p>
        </p:txBody>
      </p:sp>
      <p:sp>
        <p:nvSpPr>
          <p:cNvPr id="4" name="页脚占位符 3"/>
          <p:cNvSpPr>
            <a:spLocks noGrp="1"/>
          </p:cNvSpPr>
          <p:nvPr>
            <p:ph type="ftr" sz="quarter" idx="11"/>
          </p:nvPr>
        </p:nvSpPr>
        <p:spPr/>
        <p:txBody>
          <a:bodyPr/>
          <a:lstStyle/>
          <a:p>
            <a:pPr algn="ctr"/>
            <a:r>
              <a:rPr lang="zh-CN" altLang="en-US"/>
              <a:t>刘浩</a:t>
            </a:r>
          </a:p>
        </p:txBody>
      </p:sp>
      <p:sp>
        <p:nvSpPr>
          <p:cNvPr id="5" name="灯片编号占位符 4"/>
          <p:cNvSpPr>
            <a:spLocks noGrp="1"/>
          </p:cNvSpPr>
          <p:nvPr>
            <p:ph type="sldNum" sz="quarter" idx="12"/>
          </p:nvPr>
        </p:nvSpPr>
        <p:spPr/>
        <p:txBody>
          <a:bodyPr/>
          <a:lstStyle/>
          <a:p>
            <a:fld id="{6109356D-A228-4998-B89D-231CFF1B9545}" type="slidenum">
              <a:rPr lang="zh-CN" altLang="en-US" smtClean="0"/>
              <a:t>3</a:t>
            </a:fld>
            <a:endParaRPr lang="zh-CN" altLang="en-US"/>
          </a:p>
        </p:txBody>
      </p:sp>
      <p:pic>
        <p:nvPicPr>
          <p:cNvPr id="11" name="Content Placeholder 3"/>
          <p:cNvPicPr>
            <a:picLocks noGrp="1" noChangeAspect="1"/>
          </p:cNvPicPr>
          <p:nvPr>
            <p:ph sz="quarter" idx="2"/>
          </p:nvPr>
        </p:nvPicPr>
        <p:blipFill>
          <a:blip r:embed="rId3"/>
          <a:stretch>
            <a:fillRect/>
          </a:stretch>
        </p:blipFill>
        <p:spPr>
          <a:xfrm>
            <a:off x="457200" y="1981200"/>
            <a:ext cx="4038600" cy="3373120"/>
          </a:xfrm>
          <a:prstGeom prst="rect">
            <a:avLst/>
          </a:prstGeom>
        </p:spPr>
      </p:pic>
      <p:graphicFrame>
        <p:nvGraphicFramePr>
          <p:cNvPr id="18" name="内容占位符 17"/>
          <p:cNvGraphicFramePr>
            <a:graphicFrameLocks noGrp="1" noChangeAspect="1"/>
          </p:cNvGraphicFramePr>
          <p:nvPr>
            <p:ph sz="quarter" idx="4"/>
          </p:nvPr>
        </p:nvGraphicFramePr>
        <p:xfrm>
          <a:off x="4651375" y="2084070"/>
          <a:ext cx="4038600" cy="3689350"/>
        </p:xfrm>
        <a:graphic>
          <a:graphicData uri="http://schemas.openxmlformats.org/presentationml/2006/ole">
            <mc:AlternateContent xmlns:mc="http://schemas.openxmlformats.org/markup-compatibility/2006">
              <mc:Choice xmlns:v="urn:schemas-microsoft-com:vml" Requires="v">
                <p:oleObj spid="_x0000_s2098" r:id="rId4" imgW="5619750" imgH="5133975" progId="Paint.Picture">
                  <p:embed/>
                </p:oleObj>
              </mc:Choice>
              <mc:Fallback>
                <p:oleObj r:id="rId4" imgW="5619750" imgH="5133975" progId="Paint.Picture">
                  <p:embed/>
                  <p:pic>
                    <p:nvPicPr>
                      <p:cNvPr id="0" name="图片 18"/>
                      <p:cNvPicPr/>
                      <p:nvPr/>
                    </p:nvPicPr>
                    <p:blipFill>
                      <a:blip r:embed="rId5"/>
                      <a:stretch>
                        <a:fillRect/>
                      </a:stretch>
                    </p:blipFill>
                    <p:spPr>
                      <a:xfrm>
                        <a:off x="4651375" y="2084070"/>
                        <a:ext cx="4038600" cy="3689350"/>
                      </a:xfrm>
                      <a:prstGeom prst="rect">
                        <a:avLst/>
                      </a:prstGeom>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研究目标</a:t>
            </a:r>
          </a:p>
        </p:txBody>
      </p:sp>
      <p:sp>
        <p:nvSpPr>
          <p:cNvPr id="3" name="页脚占位符 2"/>
          <p:cNvSpPr>
            <a:spLocks noGrp="1"/>
          </p:cNvSpPr>
          <p:nvPr>
            <p:ph type="ftr" sz="quarter" idx="11"/>
          </p:nvPr>
        </p:nvSpPr>
        <p:spPr/>
        <p:txBody>
          <a:bodyPr/>
          <a:lstStyle/>
          <a:p>
            <a:pPr algn="ctr"/>
            <a:r>
              <a:rPr lang="zh-CN" altLang="en-US"/>
              <a:t>刘浩</a:t>
            </a:r>
          </a:p>
        </p:txBody>
      </p:sp>
      <p:sp>
        <p:nvSpPr>
          <p:cNvPr id="4" name="灯片编号占位符 3"/>
          <p:cNvSpPr>
            <a:spLocks noGrp="1"/>
          </p:cNvSpPr>
          <p:nvPr>
            <p:ph type="sldNum" sz="quarter" idx="12"/>
          </p:nvPr>
        </p:nvSpPr>
        <p:spPr/>
        <p:txBody>
          <a:bodyPr/>
          <a:lstStyle/>
          <a:p>
            <a:fld id="{6109356D-A228-4998-B89D-231CFF1B9545}" type="slidenum">
              <a:rPr lang="zh-CN" altLang="en-US" smtClean="0"/>
              <a:t>4</a:t>
            </a:fld>
            <a:endParaRPr lang="zh-CN" altLang="en-US"/>
          </a:p>
        </p:txBody>
      </p:sp>
      <p:sp>
        <p:nvSpPr>
          <p:cNvPr id="5" name="内容占位符 4"/>
          <p:cNvSpPr>
            <a:spLocks noGrp="1"/>
          </p:cNvSpPr>
          <p:nvPr>
            <p:ph sz="quarter" idx="1"/>
          </p:nvPr>
        </p:nvSpPr>
        <p:spPr/>
        <p:txBody>
          <a:bodyPr/>
          <a:lstStyle/>
          <a:p>
            <a:pPr>
              <a:buFont typeface="Wingdings" panose="05000000000000000000" pitchFamily="2" charset="2"/>
              <a:buChar char="Ø"/>
            </a:pPr>
            <a:r>
              <a:rPr lang="zh-CN" altLang="en-US" sz="2400" dirty="0">
                <a:latin typeface="+mn-ea"/>
              </a:rPr>
              <a:t>自动化实现第一份用户邮件的回复</a:t>
            </a:r>
          </a:p>
          <a:p>
            <a:pPr marL="0" indent="0">
              <a:buNone/>
            </a:pPr>
            <a:r>
              <a:rPr lang="en-US" altLang="zh-CN" sz="2400" dirty="0">
                <a:solidFill>
                  <a:schemeClr val="tx2"/>
                </a:solidFill>
              </a:rPr>
              <a:t>      </a:t>
            </a:r>
            <a:r>
              <a:rPr lang="zh-CN" altLang="en-US" sz="2000" dirty="0">
                <a:solidFill>
                  <a:schemeClr val="tx2"/>
                </a:solidFill>
                <a:latin typeface="宋体" panose="02010600030101010101" pitchFamily="2" charset="-122"/>
                <a:ea typeface="宋体" panose="02010600030101010101" pitchFamily="2" charset="-122"/>
              </a:rPr>
              <a:t>要求是</a:t>
            </a:r>
            <a:r>
              <a:rPr lang="en-US" altLang="zh-CN" sz="2000" dirty="0">
                <a:solidFill>
                  <a:schemeClr val="tx2"/>
                </a:solidFill>
                <a:latin typeface="宋体" panose="02010600030101010101" pitchFamily="2" charset="-122"/>
                <a:ea typeface="宋体" panose="02010600030101010101" pitchFamily="2" charset="-122"/>
              </a:rPr>
              <a:t>15</a:t>
            </a:r>
            <a:r>
              <a:rPr lang="zh-CN" altLang="en-US" sz="2000" dirty="0">
                <a:solidFill>
                  <a:schemeClr val="tx2"/>
                </a:solidFill>
                <a:latin typeface="宋体" panose="02010600030101010101" pitchFamily="2" charset="-122"/>
                <a:ea typeface="宋体" panose="02010600030101010101" pitchFamily="2" charset="-122"/>
              </a:rPr>
              <a:t>钟内回复</a:t>
            </a:r>
          </a:p>
          <a:p>
            <a:pPr>
              <a:buFont typeface="Wingdings" panose="05000000000000000000" pitchFamily="2" charset="2"/>
              <a:buChar char="Ø"/>
            </a:pPr>
            <a:r>
              <a:rPr lang="zh-CN" altLang="en-US" sz="2400" dirty="0">
                <a:latin typeface="+mn-ea"/>
              </a:rPr>
              <a:t>准确率最好的分类模型</a:t>
            </a:r>
          </a:p>
          <a:p>
            <a:pPr>
              <a:buFont typeface="Wingdings" panose="05000000000000000000" pitchFamily="2" charset="2"/>
              <a:buChar char="Ø"/>
            </a:pPr>
            <a:r>
              <a:rPr lang="en-US" altLang="zh-CN" sz="2400" dirty="0">
                <a:latin typeface="+mn-ea"/>
              </a:rPr>
              <a:t>Critical</a:t>
            </a:r>
            <a:r>
              <a:rPr lang="zh-CN" altLang="en-US" sz="2400" dirty="0">
                <a:latin typeface="+mn-ea"/>
              </a:rPr>
              <a:t>和</a:t>
            </a:r>
            <a:r>
              <a:rPr lang="en-US" altLang="zh-CN" sz="2400" dirty="0">
                <a:latin typeface="+mn-ea"/>
              </a:rPr>
              <a:t>high</a:t>
            </a:r>
            <a:r>
              <a:rPr lang="zh-CN" altLang="en-US" sz="2400" dirty="0">
                <a:latin typeface="+mn-ea"/>
              </a:rPr>
              <a:t>的分类的召回率必须在</a:t>
            </a:r>
            <a:r>
              <a:rPr lang="en-US" altLang="zh-CN" sz="2400" dirty="0">
                <a:latin typeface="+mn-ea"/>
              </a:rPr>
              <a:t>93%</a:t>
            </a:r>
            <a:r>
              <a:rPr lang="zh-CN" altLang="en-US" sz="2400" dirty="0">
                <a:latin typeface="+mn-ea"/>
              </a:rPr>
              <a:t>以上</a:t>
            </a:r>
          </a:p>
          <a:p>
            <a:pPr marL="0" indent="0">
              <a:buNone/>
            </a:pPr>
            <a:r>
              <a:rPr lang="en-US" altLang="zh-CN" sz="2000" dirty="0">
                <a:solidFill>
                  <a:schemeClr val="tx2"/>
                </a:solidFill>
                <a:latin typeface="宋体" panose="02010600030101010101" pitchFamily="2" charset="-122"/>
                <a:ea typeface="宋体" panose="02010600030101010101" pitchFamily="2" charset="-122"/>
              </a:rPr>
              <a:t>   </a:t>
            </a:r>
            <a:r>
              <a:rPr lang="zh-CN" altLang="en-US" sz="2000" dirty="0">
                <a:solidFill>
                  <a:schemeClr val="tx2"/>
                </a:solidFill>
                <a:latin typeface="宋体" panose="02010600030101010101" pitchFamily="2" charset="-122"/>
                <a:ea typeface="宋体" panose="02010600030101010101" pitchFamily="2" charset="-122"/>
              </a:rPr>
              <a:t>不能把优先级高的邮件划分到优先级低的邮件中去。如果优先级高的邮件没有及时处理可能会涉及钱或用户满意度的问题。</a:t>
            </a:r>
            <a:endParaRPr lang="en-US" altLang="zh-CN" sz="2000" dirty="0">
              <a:solidFill>
                <a:schemeClr val="tx2"/>
              </a:solidFill>
              <a:latin typeface="宋体" panose="02010600030101010101" pitchFamily="2" charset="-122"/>
              <a:ea typeface="宋体" panose="02010600030101010101" pitchFamily="2" charset="-122"/>
            </a:endParaRPr>
          </a:p>
          <a:p>
            <a:pPr>
              <a:buFont typeface="Wingdings" panose="05000000000000000000" pitchFamily="2" charset="2"/>
              <a:buChar char="Ø"/>
            </a:pPr>
            <a:r>
              <a:rPr lang="zh-CN" altLang="en-US" sz="2400" dirty="0">
                <a:latin typeface="+mn-ea"/>
              </a:rPr>
              <a:t>通用易用准确率高的模型做分类</a:t>
            </a:r>
            <a:endParaRPr lang="en-US" altLang="zh-CN" sz="2400" dirty="0">
              <a:latin typeface="+mn-ea"/>
            </a:endParaRPr>
          </a:p>
          <a:p>
            <a:pPr marL="0" indent="0">
              <a:buNone/>
            </a:pPr>
            <a:r>
              <a:rPr lang="en-US" altLang="zh-CN" dirty="0">
                <a:latin typeface="宋体" panose="02010600030101010101" pitchFamily="2" charset="-122"/>
                <a:ea typeface="宋体" panose="02010600030101010101" pitchFamily="2" charset="-122"/>
              </a:rPr>
              <a:t> </a:t>
            </a:r>
            <a:r>
              <a:rPr lang="zh-CN" altLang="en-US" sz="2400" dirty="0">
                <a:solidFill>
                  <a:schemeClr val="tx2"/>
                </a:solidFill>
                <a:latin typeface="宋体" panose="02010600030101010101" pitchFamily="2" charset="-122"/>
                <a:ea typeface="宋体" panose="02010600030101010101" pitchFamily="2" charset="-122"/>
              </a:rPr>
              <a:t>   </a:t>
            </a:r>
            <a:r>
              <a:rPr lang="zh-CN" altLang="en-US" sz="2000" dirty="0">
                <a:solidFill>
                  <a:schemeClr val="tx2"/>
                </a:solidFill>
                <a:latin typeface="宋体" panose="02010600030101010101" pitchFamily="2" charset="-122"/>
                <a:ea typeface="宋体" panose="02010600030101010101" pitchFamily="2" charset="-122"/>
              </a:rPr>
              <a:t>公司现有很多场景都需要这么一种模型通用易用准确高，这样就可以实现自动化从而减少人力成本</a:t>
            </a:r>
            <a:r>
              <a:rPr lang="zh-CN" altLang="en-US" sz="2400" dirty="0">
                <a:solidFill>
                  <a:schemeClr val="tx2"/>
                </a:solidFill>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endParaRPr lang="en-US" altLang="zh-CN" dirty="0"/>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sym typeface="+mn-ea"/>
              </a:rPr>
              <a:t>研究挑战</a:t>
            </a:r>
          </a:p>
        </p:txBody>
      </p:sp>
      <p:sp>
        <p:nvSpPr>
          <p:cNvPr id="7" name="内容占位符 6"/>
          <p:cNvSpPr>
            <a:spLocks noGrp="1"/>
          </p:cNvSpPr>
          <p:nvPr>
            <p:ph sz="quarter" idx="1"/>
          </p:nvPr>
        </p:nvSpPr>
        <p:spPr>
          <a:xfrm>
            <a:off x="457200" y="1219200"/>
            <a:ext cx="8363272" cy="4937760"/>
          </a:xfrm>
        </p:spPr>
        <p:txBody>
          <a:bodyPr>
            <a:normAutofit/>
          </a:bodyPr>
          <a:lstStyle/>
          <a:p>
            <a:pPr>
              <a:buFont typeface="Wingdings" panose="05000000000000000000" pitchFamily="2" charset="2"/>
              <a:buChar char="Ø"/>
            </a:pPr>
            <a:r>
              <a:rPr lang="zh-CN" altLang="en-US" sz="2400" dirty="0">
                <a:latin typeface="+mn-ea"/>
                <a:sym typeface="+mn-ea"/>
              </a:rPr>
              <a:t>邮件内容比较短（通常为</a:t>
            </a:r>
            <a:r>
              <a:rPr lang="en-US" altLang="zh-CN" sz="2400" dirty="0">
                <a:latin typeface="+mn-ea"/>
                <a:sym typeface="+mn-ea"/>
              </a:rPr>
              <a:t>40</a:t>
            </a:r>
            <a:r>
              <a:rPr lang="zh-CN" altLang="en-US" sz="2400" dirty="0">
                <a:latin typeface="+mn-ea"/>
                <a:sym typeface="+mn-ea"/>
              </a:rPr>
              <a:t>个</a:t>
            </a:r>
            <a:r>
              <a:rPr lang="en-US" altLang="zh-CN" sz="2400" dirty="0">
                <a:latin typeface="+mn-ea"/>
                <a:sym typeface="+mn-ea"/>
              </a:rPr>
              <a:t>word</a:t>
            </a:r>
            <a:r>
              <a:rPr lang="zh-CN" altLang="en-US" sz="2400" dirty="0">
                <a:latin typeface="+mn-ea"/>
                <a:sym typeface="+mn-ea"/>
              </a:rPr>
              <a:t>）</a:t>
            </a:r>
            <a:endParaRPr lang="en-US" altLang="zh-CN" sz="2400" dirty="0">
              <a:latin typeface="+mn-ea"/>
              <a:sym typeface="+mn-ea"/>
            </a:endParaRPr>
          </a:p>
          <a:p>
            <a:pPr>
              <a:buFont typeface="Wingdings" panose="05000000000000000000" pitchFamily="2" charset="2"/>
              <a:buChar char="Ø"/>
            </a:pPr>
            <a:r>
              <a:rPr lang="zh-CN" altLang="en-US" sz="2400" dirty="0">
                <a:latin typeface="+mn-ea"/>
                <a:sym typeface="+mn-ea"/>
              </a:rPr>
              <a:t>邮件内容更依赖于局部信息</a:t>
            </a:r>
            <a:endParaRPr lang="en-US" altLang="zh-CN" sz="2400" dirty="0">
              <a:latin typeface="+mn-ea"/>
              <a:sym typeface="+mn-ea"/>
            </a:endParaRPr>
          </a:p>
        </p:txBody>
      </p:sp>
      <p:sp>
        <p:nvSpPr>
          <p:cNvPr id="5" name="页脚占位符 4"/>
          <p:cNvSpPr>
            <a:spLocks noGrp="1"/>
          </p:cNvSpPr>
          <p:nvPr>
            <p:ph type="ftr" sz="quarter" idx="11"/>
          </p:nvPr>
        </p:nvSpPr>
        <p:spPr/>
        <p:txBody>
          <a:bodyPr/>
          <a:lstStyle/>
          <a:p>
            <a:pPr algn="ctr"/>
            <a:r>
              <a:rPr lang="zh-CN" altLang="en-US"/>
              <a:t>刘浩</a:t>
            </a:r>
          </a:p>
        </p:txBody>
      </p:sp>
      <p:sp>
        <p:nvSpPr>
          <p:cNvPr id="6" name="灯片编号占位符 5"/>
          <p:cNvSpPr>
            <a:spLocks noGrp="1"/>
          </p:cNvSpPr>
          <p:nvPr>
            <p:ph type="sldNum" sz="quarter" idx="12"/>
          </p:nvPr>
        </p:nvSpPr>
        <p:spPr/>
        <p:txBody>
          <a:bodyPr/>
          <a:lstStyle/>
          <a:p>
            <a:fld id="{6109356D-A228-4998-B89D-231CFF1B9545}" type="slidenum">
              <a:rPr lang="zh-CN" altLang="en-US" smtClean="0"/>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2D4FFB-7BAF-1644-A293-58C22B0DE284}"/>
              </a:ext>
            </a:extLst>
          </p:cNvPr>
          <p:cNvSpPr>
            <a:spLocks noGrp="1"/>
          </p:cNvSpPr>
          <p:nvPr>
            <p:ph type="title"/>
          </p:nvPr>
        </p:nvSpPr>
        <p:spPr/>
        <p:txBody>
          <a:bodyPr>
            <a:normAutofit/>
          </a:bodyPr>
          <a:lstStyle/>
          <a:p>
            <a:r>
              <a:rPr lang="zh-CN" altLang="en-US" sz="2800" dirty="0"/>
              <a:t>现有文本分类算法的比较</a:t>
            </a:r>
            <a:endParaRPr kumimoji="1" lang="zh-CN" altLang="en-US" sz="2800" dirty="0"/>
          </a:p>
        </p:txBody>
      </p:sp>
      <p:sp>
        <p:nvSpPr>
          <p:cNvPr id="3" name="页脚占位符 2">
            <a:extLst>
              <a:ext uri="{FF2B5EF4-FFF2-40B4-BE49-F238E27FC236}">
                <a16:creationId xmlns:a16="http://schemas.microsoft.com/office/drawing/2014/main" id="{A8FC08ED-3B1E-B645-8B2C-38550ACEE8FB}"/>
              </a:ext>
            </a:extLst>
          </p:cNvPr>
          <p:cNvSpPr>
            <a:spLocks noGrp="1"/>
          </p:cNvSpPr>
          <p:nvPr>
            <p:ph type="ftr" sz="quarter" idx="11"/>
          </p:nvPr>
        </p:nvSpPr>
        <p:spPr/>
        <p:txBody>
          <a:bodyPr/>
          <a:lstStyle/>
          <a:p>
            <a:pPr algn="ctr"/>
            <a:r>
              <a:rPr lang="en-US" altLang="zh-CN" dirty="0"/>
              <a:t> </a:t>
            </a:r>
            <a:r>
              <a:rPr lang="zh-CN" altLang="en-US" dirty="0"/>
              <a:t>刘浩</a:t>
            </a:r>
          </a:p>
        </p:txBody>
      </p:sp>
      <p:sp>
        <p:nvSpPr>
          <p:cNvPr id="4" name="灯片编号占位符 3">
            <a:extLst>
              <a:ext uri="{FF2B5EF4-FFF2-40B4-BE49-F238E27FC236}">
                <a16:creationId xmlns:a16="http://schemas.microsoft.com/office/drawing/2014/main" id="{995AD40B-E505-464F-8A72-16D40666C4A5}"/>
              </a:ext>
            </a:extLst>
          </p:cNvPr>
          <p:cNvSpPr>
            <a:spLocks noGrp="1"/>
          </p:cNvSpPr>
          <p:nvPr>
            <p:ph type="sldNum" sz="quarter" idx="12"/>
          </p:nvPr>
        </p:nvSpPr>
        <p:spPr/>
        <p:txBody>
          <a:bodyPr/>
          <a:lstStyle/>
          <a:p>
            <a:fld id="{6109356D-A228-4998-B89D-231CFF1B9545}" type="slidenum">
              <a:rPr lang="zh-CN" altLang="en-US" smtClean="0"/>
              <a:t>6</a:t>
            </a:fld>
            <a:endParaRPr lang="zh-CN" altLang="en-US"/>
          </a:p>
        </p:txBody>
      </p:sp>
      <p:graphicFrame>
        <p:nvGraphicFramePr>
          <p:cNvPr id="6" name="内容占位符 5">
            <a:extLst>
              <a:ext uri="{FF2B5EF4-FFF2-40B4-BE49-F238E27FC236}">
                <a16:creationId xmlns:a16="http://schemas.microsoft.com/office/drawing/2014/main" id="{FB842C00-EEC0-9849-A86E-FCF6A2CD82DB}"/>
              </a:ext>
            </a:extLst>
          </p:cNvPr>
          <p:cNvGraphicFramePr>
            <a:graphicFrameLocks noGrp="1"/>
          </p:cNvGraphicFramePr>
          <p:nvPr>
            <p:ph sz="quarter" idx="1"/>
            <p:extLst>
              <p:ext uri="{D42A27DB-BD31-4B8C-83A1-F6EECF244321}">
                <p14:modId xmlns:p14="http://schemas.microsoft.com/office/powerpoint/2010/main" val="1604675116"/>
              </p:ext>
            </p:extLst>
          </p:nvPr>
        </p:nvGraphicFramePr>
        <p:xfrm>
          <a:off x="501707" y="1143001"/>
          <a:ext cx="8185094" cy="5207174"/>
        </p:xfrm>
        <a:graphic>
          <a:graphicData uri="http://schemas.openxmlformats.org/drawingml/2006/table">
            <a:tbl>
              <a:tblPr firstRow="1" firstCol="1" bandRow="1">
                <a:tableStyleId>{21E4AEA4-8DFA-4A89-87EB-49C32662AFE0}</a:tableStyleId>
              </a:tblPr>
              <a:tblGrid>
                <a:gridCol w="793641">
                  <a:extLst>
                    <a:ext uri="{9D8B030D-6E8A-4147-A177-3AD203B41FA5}">
                      <a16:colId xmlns:a16="http://schemas.microsoft.com/office/drawing/2014/main" val="1614575534"/>
                    </a:ext>
                  </a:extLst>
                </a:gridCol>
                <a:gridCol w="777784">
                  <a:extLst>
                    <a:ext uri="{9D8B030D-6E8A-4147-A177-3AD203B41FA5}">
                      <a16:colId xmlns:a16="http://schemas.microsoft.com/office/drawing/2014/main" val="2544221774"/>
                    </a:ext>
                  </a:extLst>
                </a:gridCol>
                <a:gridCol w="3795012">
                  <a:extLst>
                    <a:ext uri="{9D8B030D-6E8A-4147-A177-3AD203B41FA5}">
                      <a16:colId xmlns:a16="http://schemas.microsoft.com/office/drawing/2014/main" val="891736567"/>
                    </a:ext>
                  </a:extLst>
                </a:gridCol>
                <a:gridCol w="2818657">
                  <a:extLst>
                    <a:ext uri="{9D8B030D-6E8A-4147-A177-3AD203B41FA5}">
                      <a16:colId xmlns:a16="http://schemas.microsoft.com/office/drawing/2014/main" val="509193336"/>
                    </a:ext>
                  </a:extLst>
                </a:gridCol>
              </a:tblGrid>
              <a:tr h="268759">
                <a:tc>
                  <a:txBody>
                    <a:bodyPr/>
                    <a:lstStyle/>
                    <a:p>
                      <a:pPr algn="ctr">
                        <a:lnSpc>
                          <a:spcPts val="2000"/>
                        </a:lnSpc>
                      </a:pPr>
                      <a:r>
                        <a:rPr lang="en-US" sz="1100" b="0"/>
                        <a:t> </a:t>
                      </a:r>
                      <a:endParaRPr lang="zh-CN" altLang="en-US" sz="1100" b="0" i="0">
                        <a:latin typeface="SimSong" panose="02020300000000000000" pitchFamily="18" charset="-122"/>
                        <a:ea typeface="SimSong" panose="02020300000000000000" pitchFamily="18" charset="-122"/>
                      </a:endParaRPr>
                    </a:p>
                  </a:txBody>
                  <a:tcPr marL="30635" marR="30635" marT="0" marB="0"/>
                </a:tc>
                <a:tc>
                  <a:txBody>
                    <a:bodyPr/>
                    <a:lstStyle/>
                    <a:p>
                      <a:pPr algn="ctr">
                        <a:lnSpc>
                          <a:spcPts val="2000"/>
                        </a:lnSpc>
                      </a:pPr>
                      <a:r>
                        <a:rPr lang="zh-CN" altLang="en-US" sz="1100" b="0"/>
                        <a:t>模型</a:t>
                      </a:r>
                      <a:endParaRPr lang="zh-CN" altLang="en-US" sz="1100" b="0" i="0">
                        <a:latin typeface="SimSong" panose="02020300000000000000" pitchFamily="18" charset="-122"/>
                        <a:ea typeface="SimSong" panose="02020300000000000000" pitchFamily="18" charset="-122"/>
                      </a:endParaRPr>
                    </a:p>
                  </a:txBody>
                  <a:tcPr marL="30635" marR="30635" marT="0" marB="0"/>
                </a:tc>
                <a:tc>
                  <a:txBody>
                    <a:bodyPr/>
                    <a:lstStyle/>
                    <a:p>
                      <a:pPr indent="266700" algn="ctr">
                        <a:lnSpc>
                          <a:spcPts val="2000"/>
                        </a:lnSpc>
                      </a:pPr>
                      <a:r>
                        <a:rPr lang="zh-CN" altLang="en-US" sz="1100" b="0"/>
                        <a:t>缺点</a:t>
                      </a:r>
                      <a:endParaRPr lang="zh-CN" altLang="en-US" sz="1100" b="0" i="0">
                        <a:latin typeface="SimSong" panose="02020300000000000000" pitchFamily="18" charset="-122"/>
                        <a:ea typeface="SimSong" panose="02020300000000000000" pitchFamily="18" charset="-122"/>
                      </a:endParaRPr>
                    </a:p>
                  </a:txBody>
                  <a:tcPr marL="30635" marR="30635" marT="0" marB="0"/>
                </a:tc>
                <a:tc>
                  <a:txBody>
                    <a:bodyPr/>
                    <a:lstStyle/>
                    <a:p>
                      <a:pPr indent="266700" algn="ctr">
                        <a:lnSpc>
                          <a:spcPts val="2000"/>
                        </a:lnSpc>
                      </a:pPr>
                      <a:r>
                        <a:rPr lang="zh-CN" altLang="en-US" sz="1100" b="0"/>
                        <a:t>优点</a:t>
                      </a:r>
                      <a:endParaRPr lang="zh-CN" altLang="en-US" sz="1100" b="0" i="0">
                        <a:latin typeface="SimSong" panose="02020300000000000000" pitchFamily="18" charset="-122"/>
                        <a:ea typeface="SimSong" panose="02020300000000000000" pitchFamily="18" charset="-122"/>
                      </a:endParaRPr>
                    </a:p>
                  </a:txBody>
                  <a:tcPr marL="30635" marR="30635" marT="0" marB="0"/>
                </a:tc>
                <a:extLst>
                  <a:ext uri="{0D108BD9-81ED-4DB2-BD59-A6C34878D82A}">
                    <a16:rowId xmlns:a16="http://schemas.microsoft.com/office/drawing/2014/main" val="3085469518"/>
                  </a:ext>
                </a:extLst>
              </a:tr>
              <a:tr h="361056">
                <a:tc>
                  <a:txBody>
                    <a:bodyPr/>
                    <a:lstStyle/>
                    <a:p>
                      <a:pPr algn="just">
                        <a:lnSpc>
                          <a:spcPts val="2000"/>
                        </a:lnSpc>
                      </a:pPr>
                      <a:r>
                        <a:rPr lang="en-US" sz="1100" b="0"/>
                        <a:t>Non-DL</a:t>
                      </a:r>
                      <a:endParaRPr lang="zh-CN" altLang="en-US" sz="1100" b="0" i="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Non-DL </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1.</a:t>
                      </a:r>
                      <a:r>
                        <a:rPr lang="zh-CN" altLang="en-US" sz="1100" b="0" dirty="0"/>
                        <a:t>词与词是没有联系，很立；</a:t>
                      </a:r>
                      <a:r>
                        <a:rPr lang="en-US" sz="1100" b="0" dirty="0"/>
                        <a:t>2.</a:t>
                      </a:r>
                      <a:r>
                        <a:rPr lang="zh-CN" altLang="en-US" sz="1100" b="0" dirty="0"/>
                        <a:t>人工提出特征</a:t>
                      </a:r>
                      <a:r>
                        <a:rPr lang="en-US" sz="1100" b="0" dirty="0"/>
                        <a:t>3.</a:t>
                      </a:r>
                      <a:r>
                        <a:rPr lang="zh-CN" altLang="en-US" sz="1100" b="0" dirty="0"/>
                        <a:t>人工标注。</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zh-CN" altLang="en-US" sz="1100" b="0"/>
                        <a:t>速度快；少量数据集。</a:t>
                      </a:r>
                      <a:endParaRPr lang="zh-CN" altLang="en-US" sz="1100" b="0" i="0">
                        <a:latin typeface="SimSong" panose="02020300000000000000" pitchFamily="18" charset="-122"/>
                        <a:ea typeface="SimSong" panose="02020300000000000000" pitchFamily="18" charset="-122"/>
                      </a:endParaRPr>
                    </a:p>
                  </a:txBody>
                  <a:tcPr marL="30635" marR="30635" marT="0" marB="0"/>
                </a:tc>
                <a:extLst>
                  <a:ext uri="{0D108BD9-81ED-4DB2-BD59-A6C34878D82A}">
                    <a16:rowId xmlns:a16="http://schemas.microsoft.com/office/drawing/2014/main" val="3642531469"/>
                  </a:ext>
                </a:extLst>
              </a:tr>
              <a:tr h="449939">
                <a:tc>
                  <a:txBody>
                    <a:bodyPr/>
                    <a:lstStyle/>
                    <a:p>
                      <a:pPr algn="just">
                        <a:lnSpc>
                          <a:spcPts val="2000"/>
                        </a:lnSpc>
                      </a:pPr>
                      <a:r>
                        <a:rPr lang="en-US" sz="1100" b="0" dirty="0"/>
                        <a:t>CNN</a:t>
                      </a:r>
                      <a:endParaRPr lang="zh-CN" altLang="en-US" sz="1100" b="0" dirty="0"/>
                    </a:p>
                    <a:p>
                      <a:pPr algn="just">
                        <a:lnSpc>
                          <a:spcPts val="2000"/>
                        </a:lnSpc>
                      </a:pPr>
                      <a:r>
                        <a:rPr lang="en-US" sz="1100" b="0" dirty="0"/>
                        <a:t>Baselines</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Text CNN</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1.</a:t>
                      </a:r>
                      <a:r>
                        <a:rPr lang="zh-CN" altLang="en-US" sz="1100" b="0" dirty="0"/>
                        <a:t>很难解决长距离的依赖；</a:t>
                      </a:r>
                      <a:r>
                        <a:rPr lang="en-US" sz="1100" b="0" dirty="0"/>
                        <a:t>2.</a:t>
                      </a:r>
                      <a:r>
                        <a:rPr lang="zh-CN" altLang="en-US" sz="1100" b="0" dirty="0"/>
                        <a:t>比较大的数据集；</a:t>
                      </a:r>
                      <a:r>
                        <a:rPr lang="en-US" sz="1100" b="0" dirty="0"/>
                        <a:t>3.</a:t>
                      </a:r>
                      <a:r>
                        <a:rPr lang="zh-CN" altLang="en-US" sz="1100" b="0" dirty="0"/>
                        <a:t>人工标注。</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zh-CN" altLang="en-US" sz="1100" b="0"/>
                        <a:t>速度快；并行化；更好的获取局部的信息。</a:t>
                      </a:r>
                      <a:endParaRPr lang="zh-CN" altLang="en-US" sz="1100" b="0" i="0">
                        <a:latin typeface="SimSong" panose="02020300000000000000" pitchFamily="18" charset="-122"/>
                        <a:ea typeface="SimSong" panose="02020300000000000000" pitchFamily="18" charset="-122"/>
                      </a:endParaRPr>
                    </a:p>
                  </a:txBody>
                  <a:tcPr marL="30635" marR="30635" marT="0" marB="0"/>
                </a:tc>
                <a:extLst>
                  <a:ext uri="{0D108BD9-81ED-4DB2-BD59-A6C34878D82A}">
                    <a16:rowId xmlns:a16="http://schemas.microsoft.com/office/drawing/2014/main" val="4165756630"/>
                  </a:ext>
                </a:extLst>
              </a:tr>
              <a:tr h="504590">
                <a:tc>
                  <a:txBody>
                    <a:bodyPr/>
                    <a:lstStyle/>
                    <a:p>
                      <a:pPr algn="just">
                        <a:lnSpc>
                          <a:spcPts val="2000"/>
                        </a:lnSpc>
                      </a:pPr>
                      <a:r>
                        <a:rPr lang="en-US" sz="1100" b="0"/>
                        <a:t>RNN </a:t>
                      </a:r>
                      <a:endParaRPr lang="zh-CN" altLang="en-US" sz="1100" b="0"/>
                    </a:p>
                    <a:p>
                      <a:pPr algn="just">
                        <a:lnSpc>
                          <a:spcPts val="2000"/>
                        </a:lnSpc>
                      </a:pPr>
                      <a:r>
                        <a:rPr lang="en-US" sz="1100" b="0"/>
                        <a:t>Baselines</a:t>
                      </a:r>
                      <a:endParaRPr lang="zh-CN" altLang="en-US" sz="1100" b="0" i="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a:t>LSTM/</a:t>
                      </a:r>
                      <a:endParaRPr lang="zh-CN" altLang="en-US" sz="1100" b="0"/>
                    </a:p>
                    <a:p>
                      <a:pPr algn="just">
                        <a:lnSpc>
                          <a:spcPts val="2000"/>
                        </a:lnSpc>
                      </a:pPr>
                      <a:r>
                        <a:rPr lang="en-US" sz="1100" b="0"/>
                        <a:t>GRU</a:t>
                      </a:r>
                      <a:endParaRPr lang="zh-CN" altLang="en-US" sz="1100" b="0" i="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1.</a:t>
                      </a:r>
                      <a:r>
                        <a:rPr lang="zh-CN" altLang="en-US" sz="1100" b="0" dirty="0"/>
                        <a:t>速度慢，不能并行化；</a:t>
                      </a:r>
                      <a:r>
                        <a:rPr lang="en-US" sz="1100" b="0" dirty="0"/>
                        <a:t>2.</a:t>
                      </a:r>
                      <a:r>
                        <a:rPr lang="zh-CN" altLang="en-US" sz="1100" b="0" dirty="0"/>
                        <a:t>单向；</a:t>
                      </a:r>
                      <a:r>
                        <a:rPr lang="en-US" sz="1100" b="0" dirty="0"/>
                        <a:t>3.</a:t>
                      </a:r>
                      <a:r>
                        <a:rPr lang="zh-CN" altLang="en-US" sz="1100" b="0" dirty="0"/>
                        <a:t>没有完全解决长距离依赖问题；</a:t>
                      </a:r>
                      <a:r>
                        <a:rPr lang="en-US" sz="1100" b="0" dirty="0"/>
                        <a:t>4.</a:t>
                      </a:r>
                      <a:r>
                        <a:rPr lang="zh-CN" altLang="en-US" sz="1100" b="0" dirty="0"/>
                        <a:t>比较大的数据集。</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a:t>1.</a:t>
                      </a:r>
                      <a:r>
                        <a:rPr lang="zh-CN" altLang="en-US" sz="1100" b="0"/>
                        <a:t>一定程度上解决了长距离依赖的问题。</a:t>
                      </a:r>
                      <a:endParaRPr lang="zh-CN" altLang="en-US" sz="1100" b="0" i="0">
                        <a:latin typeface="SimSong" panose="02020300000000000000" pitchFamily="18" charset="-122"/>
                        <a:ea typeface="SimSong" panose="02020300000000000000" pitchFamily="18" charset="-122"/>
                      </a:endParaRPr>
                    </a:p>
                  </a:txBody>
                  <a:tcPr marL="30635" marR="30635" marT="0" marB="0"/>
                </a:tc>
                <a:extLst>
                  <a:ext uri="{0D108BD9-81ED-4DB2-BD59-A6C34878D82A}">
                    <a16:rowId xmlns:a16="http://schemas.microsoft.com/office/drawing/2014/main" val="445573412"/>
                  </a:ext>
                </a:extLst>
              </a:tr>
              <a:tr h="538173">
                <a:tc rowSpan="2">
                  <a:txBody>
                    <a:bodyPr/>
                    <a:lstStyle/>
                    <a:p>
                      <a:pPr algn="just">
                        <a:lnSpc>
                          <a:spcPts val="2000"/>
                        </a:lnSpc>
                      </a:pPr>
                      <a:r>
                        <a:rPr lang="en-US" sz="1100" b="0"/>
                        <a:t>BiRNN</a:t>
                      </a:r>
                      <a:endParaRPr lang="zh-CN" altLang="en-US" sz="1100" b="0"/>
                    </a:p>
                    <a:p>
                      <a:pPr algn="just">
                        <a:lnSpc>
                          <a:spcPts val="2000"/>
                        </a:lnSpc>
                      </a:pPr>
                      <a:r>
                        <a:rPr lang="en-US" sz="1100" b="0"/>
                        <a:t>Baselines</a:t>
                      </a:r>
                      <a:endParaRPr lang="zh-CN" altLang="en-US" sz="1100" b="0" i="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a:t>BiLSTM</a:t>
                      </a:r>
                      <a:endParaRPr lang="zh-CN" altLang="en-US" sz="1100" b="0"/>
                    </a:p>
                    <a:p>
                      <a:pPr algn="just">
                        <a:lnSpc>
                          <a:spcPts val="2000"/>
                        </a:lnSpc>
                      </a:pPr>
                      <a:r>
                        <a:rPr lang="en-US" sz="1100" b="0"/>
                        <a:t>BiGRU</a:t>
                      </a:r>
                      <a:endParaRPr lang="zh-CN" altLang="en-US" sz="1100" b="0" i="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1.</a:t>
                      </a:r>
                      <a:r>
                        <a:rPr lang="zh-CN" altLang="en-US" sz="1100" b="0" dirty="0"/>
                        <a:t>速度慢；</a:t>
                      </a:r>
                      <a:r>
                        <a:rPr lang="en-US" sz="1100" b="0" dirty="0"/>
                        <a:t>2.</a:t>
                      </a:r>
                      <a:r>
                        <a:rPr lang="zh-CN" altLang="en-US" sz="1100" b="0" dirty="0"/>
                        <a:t>不能并行化；</a:t>
                      </a:r>
                      <a:r>
                        <a:rPr lang="en-US" sz="1100" b="0" dirty="0"/>
                        <a:t>3.</a:t>
                      </a:r>
                      <a:r>
                        <a:rPr lang="zh-CN" altLang="en-US" sz="1100" b="0" dirty="0"/>
                        <a:t>没有完全解决长距离依赖问题；</a:t>
                      </a:r>
                      <a:r>
                        <a:rPr lang="en-US" sz="1100" b="0" dirty="0"/>
                        <a:t>4.</a:t>
                      </a:r>
                      <a:r>
                        <a:rPr lang="zh-CN" altLang="en-US" sz="1100" b="0" dirty="0"/>
                        <a:t>比较大的数据集。</a:t>
                      </a:r>
                      <a:r>
                        <a:rPr lang="en-US" sz="1100" b="0" dirty="0"/>
                        <a:t>3.</a:t>
                      </a:r>
                      <a:r>
                        <a:rPr lang="zh-CN" altLang="en-US" sz="1100" b="0" dirty="0"/>
                        <a:t>人工标注。</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1.</a:t>
                      </a:r>
                      <a:r>
                        <a:rPr lang="zh-CN" altLang="en-US" sz="1100" b="0" dirty="0"/>
                        <a:t>双向的模型；</a:t>
                      </a:r>
                      <a:r>
                        <a:rPr lang="en-US" sz="1100" b="0" dirty="0"/>
                        <a:t>2.</a:t>
                      </a:r>
                      <a:r>
                        <a:rPr lang="zh-CN" altLang="en-US" sz="1100" b="0" dirty="0"/>
                        <a:t>较弱的上下信息预测。</a:t>
                      </a:r>
                      <a:endParaRPr lang="zh-CN" altLang="en-US" sz="1100" b="0" i="0" dirty="0">
                        <a:latin typeface="SimSong" panose="02020300000000000000" pitchFamily="18" charset="-122"/>
                        <a:ea typeface="SimSong" panose="02020300000000000000" pitchFamily="18" charset="-122"/>
                      </a:endParaRPr>
                    </a:p>
                  </a:txBody>
                  <a:tcPr marL="30635" marR="30635" marT="0" marB="0"/>
                </a:tc>
                <a:extLst>
                  <a:ext uri="{0D108BD9-81ED-4DB2-BD59-A6C34878D82A}">
                    <a16:rowId xmlns:a16="http://schemas.microsoft.com/office/drawing/2014/main" val="3283365943"/>
                  </a:ext>
                </a:extLst>
              </a:tr>
              <a:tr h="538173">
                <a:tc vMerge="1">
                  <a:txBody>
                    <a:bodyPr/>
                    <a:lstStyle/>
                    <a:p>
                      <a:endParaRPr lang="zh-CN" altLang="en-US"/>
                    </a:p>
                  </a:txBody>
                  <a:tcPr/>
                </a:tc>
                <a:tc>
                  <a:txBody>
                    <a:bodyPr/>
                    <a:lstStyle/>
                    <a:p>
                      <a:pPr algn="just">
                        <a:lnSpc>
                          <a:spcPts val="2000"/>
                        </a:lnSpc>
                      </a:pPr>
                      <a:r>
                        <a:rPr lang="en-US" sz="1100" b="0" dirty="0" err="1"/>
                        <a:t>ELMo</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1.</a:t>
                      </a:r>
                      <a:r>
                        <a:rPr lang="zh-CN" altLang="en-US" sz="1100" b="0" dirty="0"/>
                        <a:t>速度慢；</a:t>
                      </a:r>
                      <a:r>
                        <a:rPr lang="en-US" sz="1100" b="0" dirty="0"/>
                        <a:t>2.</a:t>
                      </a:r>
                      <a:r>
                        <a:rPr lang="zh-CN" altLang="en-US" sz="1100" b="0" dirty="0"/>
                        <a:t>不能并行化；</a:t>
                      </a:r>
                      <a:r>
                        <a:rPr lang="en-US" sz="1100" b="0" dirty="0"/>
                        <a:t>3.</a:t>
                      </a:r>
                      <a:r>
                        <a:rPr lang="zh-CN" altLang="en-US" sz="1100" b="0" dirty="0"/>
                        <a:t>特征选择和融合与</a:t>
                      </a:r>
                      <a:r>
                        <a:rPr lang="en-US" sz="1100" b="0" dirty="0"/>
                        <a:t>BERT</a:t>
                      </a:r>
                      <a:r>
                        <a:rPr lang="zh-CN" altLang="en-US" sz="1100" b="0" dirty="0"/>
                        <a:t>相比较弱；</a:t>
                      </a:r>
                      <a:r>
                        <a:rPr lang="en-US" sz="1100" b="0" dirty="0"/>
                        <a:t>4.</a:t>
                      </a:r>
                      <a:r>
                        <a:rPr lang="zh-CN" altLang="en-US" sz="1100" b="0" dirty="0"/>
                        <a:t>一般只能堆叠两至三层；</a:t>
                      </a:r>
                      <a:r>
                        <a:rPr lang="en-US" sz="1100" b="0" dirty="0"/>
                        <a:t>5. </a:t>
                      </a:r>
                      <a:r>
                        <a:rPr lang="zh-CN" altLang="en-US" sz="1100" b="0" dirty="0"/>
                        <a:t>超大量数据集。</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1.</a:t>
                      </a:r>
                      <a:r>
                        <a:rPr lang="zh-CN" altLang="en-US" sz="1100" b="0" dirty="0"/>
                        <a:t>双向的模型；</a:t>
                      </a:r>
                      <a:r>
                        <a:rPr lang="en-US" sz="1100" b="0" dirty="0"/>
                        <a:t>2.</a:t>
                      </a:r>
                      <a:r>
                        <a:rPr lang="zh-CN" altLang="en-US" sz="1100" b="0" dirty="0"/>
                        <a:t>较弱的上下信息预测；</a:t>
                      </a:r>
                      <a:r>
                        <a:rPr lang="en-US" sz="1100" b="0" dirty="0"/>
                        <a:t>3.</a:t>
                      </a:r>
                      <a:r>
                        <a:rPr lang="zh-CN" altLang="en-US" sz="1100" b="0" dirty="0"/>
                        <a:t>预训练语言模型。</a:t>
                      </a:r>
                      <a:endParaRPr lang="zh-CN" altLang="en-US" sz="1100" b="0" i="0" dirty="0">
                        <a:latin typeface="SimSong" panose="02020300000000000000" pitchFamily="18" charset="-122"/>
                        <a:ea typeface="SimSong" panose="02020300000000000000" pitchFamily="18" charset="-122"/>
                      </a:endParaRPr>
                    </a:p>
                  </a:txBody>
                  <a:tcPr marL="30635" marR="30635" marT="0" marB="0"/>
                </a:tc>
                <a:extLst>
                  <a:ext uri="{0D108BD9-81ED-4DB2-BD59-A6C34878D82A}">
                    <a16:rowId xmlns:a16="http://schemas.microsoft.com/office/drawing/2014/main" val="22672250"/>
                  </a:ext>
                </a:extLst>
              </a:tr>
              <a:tr h="449939">
                <a:tc rowSpan="4">
                  <a:txBody>
                    <a:bodyPr/>
                    <a:lstStyle/>
                    <a:p>
                      <a:pPr algn="just">
                        <a:lnSpc>
                          <a:spcPts val="2000"/>
                        </a:lnSpc>
                      </a:pPr>
                      <a:r>
                        <a:rPr lang="en-US" sz="1100" b="0" dirty="0"/>
                        <a:t>Transformer</a:t>
                      </a:r>
                      <a:endParaRPr lang="zh-CN" altLang="en-US" sz="1100" b="0" dirty="0"/>
                    </a:p>
                    <a:p>
                      <a:pPr algn="just">
                        <a:lnSpc>
                          <a:spcPts val="2000"/>
                        </a:lnSpc>
                      </a:pPr>
                      <a:r>
                        <a:rPr lang="en-US" sz="1100" b="0" dirty="0"/>
                        <a:t>Baselines</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Transformer</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1.</a:t>
                      </a:r>
                      <a:r>
                        <a:rPr lang="zh-CN" altLang="en-US" sz="1100" b="0" dirty="0"/>
                        <a:t>局部信息获取弱；</a:t>
                      </a:r>
                      <a:r>
                        <a:rPr lang="en-US" sz="1100" b="0" dirty="0"/>
                        <a:t>2.</a:t>
                      </a:r>
                      <a:r>
                        <a:rPr lang="zh-CN" altLang="en-US" sz="1100" b="0" dirty="0"/>
                        <a:t>需要从头开始训练；</a:t>
                      </a:r>
                      <a:r>
                        <a:rPr lang="en-US" sz="1100" b="0" dirty="0"/>
                        <a:t>3.</a:t>
                      </a:r>
                      <a:r>
                        <a:rPr lang="zh-CN" altLang="en-US" sz="1100" b="0" dirty="0"/>
                        <a:t>比较大的数据集。</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a:t>1.</a:t>
                      </a:r>
                      <a:r>
                        <a:rPr lang="zh-CN" altLang="en-US" sz="1100" b="0"/>
                        <a:t>基本没有长距离依赖的问题。</a:t>
                      </a:r>
                      <a:r>
                        <a:rPr lang="en-US" sz="1100" b="0"/>
                        <a:t>2.</a:t>
                      </a:r>
                      <a:r>
                        <a:rPr lang="zh-CN" altLang="en-US" sz="1100" b="0"/>
                        <a:t>双向信息</a:t>
                      </a:r>
                      <a:endParaRPr lang="zh-CN" altLang="en-US" sz="1100" b="0" i="0">
                        <a:latin typeface="SimSong" panose="02020300000000000000" pitchFamily="18" charset="-122"/>
                        <a:ea typeface="SimSong" panose="02020300000000000000" pitchFamily="18" charset="-122"/>
                      </a:endParaRPr>
                    </a:p>
                  </a:txBody>
                  <a:tcPr marL="30635" marR="30635" marT="0" marB="0"/>
                </a:tc>
                <a:extLst>
                  <a:ext uri="{0D108BD9-81ED-4DB2-BD59-A6C34878D82A}">
                    <a16:rowId xmlns:a16="http://schemas.microsoft.com/office/drawing/2014/main" val="67785327"/>
                  </a:ext>
                </a:extLst>
              </a:tr>
              <a:tr h="807260">
                <a:tc vMerge="1">
                  <a:txBody>
                    <a:bodyPr/>
                    <a:lstStyle/>
                    <a:p>
                      <a:endParaRPr lang="zh-CN" altLang="en-US"/>
                    </a:p>
                  </a:txBody>
                  <a:tcPr/>
                </a:tc>
                <a:tc>
                  <a:txBody>
                    <a:bodyPr/>
                    <a:lstStyle/>
                    <a:p>
                      <a:pPr algn="just">
                        <a:lnSpc>
                          <a:spcPts val="2000"/>
                        </a:lnSpc>
                      </a:pPr>
                      <a:r>
                        <a:rPr lang="en-US" sz="1100" b="0" dirty="0"/>
                        <a:t>BERT</a:t>
                      </a:r>
                      <a:endParaRPr lang="zh-CN" altLang="en-US" sz="1100" b="0" dirty="0"/>
                    </a:p>
                    <a:p>
                      <a:pPr algn="just">
                        <a:lnSpc>
                          <a:spcPts val="2000"/>
                        </a:lnSpc>
                      </a:pPr>
                      <a:r>
                        <a:rPr lang="en-US" sz="1100" b="0" dirty="0"/>
                        <a:t>Baselines</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1.</a:t>
                      </a:r>
                      <a:r>
                        <a:rPr lang="zh-CN" altLang="en-US" sz="1100" b="0" dirty="0"/>
                        <a:t>忽略了</a:t>
                      </a:r>
                      <a:r>
                        <a:rPr lang="en-US" sz="1100" b="0" dirty="0"/>
                        <a:t>[MASK]</a:t>
                      </a:r>
                      <a:r>
                        <a:rPr lang="zh-CN" altLang="en-US" sz="1100" b="0" dirty="0"/>
                        <a:t>词之间的依赖关系，</a:t>
                      </a:r>
                      <a:r>
                        <a:rPr lang="en-US" sz="1100" b="0" dirty="0"/>
                        <a:t>fine-tuning</a:t>
                      </a:r>
                      <a:r>
                        <a:rPr lang="zh-CN" altLang="en-US" sz="1100" b="0" dirty="0"/>
                        <a:t>不会出现</a:t>
                      </a:r>
                      <a:r>
                        <a:rPr lang="en-US" sz="1100" b="0" dirty="0"/>
                        <a:t>[MASK]</a:t>
                      </a:r>
                      <a:r>
                        <a:rPr lang="zh-CN" altLang="en-US" sz="1100" b="0" dirty="0"/>
                        <a:t>；</a:t>
                      </a:r>
                      <a:r>
                        <a:rPr lang="en-US" sz="1100" b="0" dirty="0"/>
                        <a:t>2.</a:t>
                      </a:r>
                      <a:r>
                        <a:rPr lang="zh-CN" altLang="en-US" sz="1100" b="0" dirty="0"/>
                        <a:t>局部和全局信息方式获取一样；</a:t>
                      </a:r>
                      <a:r>
                        <a:rPr lang="en-US" sz="1100" b="0" dirty="0"/>
                        <a:t>3.</a:t>
                      </a:r>
                      <a:r>
                        <a:rPr lang="zh-CN" altLang="en-US" sz="1100" b="0" dirty="0"/>
                        <a:t>超大量数据集和</a:t>
                      </a:r>
                      <a:r>
                        <a:rPr lang="en-US" sz="1100" b="0" dirty="0"/>
                        <a:t>GPU</a:t>
                      </a:r>
                      <a:r>
                        <a:rPr lang="zh-CN" altLang="en-US" sz="1100" b="0" dirty="0"/>
                        <a:t>；</a:t>
                      </a:r>
                      <a:r>
                        <a:rPr lang="en-US" sz="1100" b="0" dirty="0"/>
                        <a:t>4.</a:t>
                      </a:r>
                      <a:r>
                        <a:rPr lang="zh-CN" altLang="en-US" sz="1100" b="0" dirty="0"/>
                        <a:t>较弱生成能力；</a:t>
                      </a:r>
                      <a:r>
                        <a:rPr lang="en-US" sz="1100" b="0" dirty="0"/>
                        <a:t>5.</a:t>
                      </a:r>
                      <a:r>
                        <a:rPr lang="zh-CN" altLang="en-US" sz="1100" b="0" dirty="0"/>
                        <a:t>获取更短序列信息</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1.</a:t>
                      </a:r>
                      <a:r>
                        <a:rPr lang="zh-CN" altLang="en-US" sz="1100" b="0" dirty="0"/>
                        <a:t>基本没有长距离依赖的问题；</a:t>
                      </a:r>
                      <a:r>
                        <a:rPr lang="en-US" sz="1100" b="0" dirty="0"/>
                        <a:t>2.</a:t>
                      </a:r>
                      <a:r>
                        <a:rPr lang="zh-CN" altLang="en-US" sz="1100" b="0" dirty="0"/>
                        <a:t>较强的上下信息预测；</a:t>
                      </a:r>
                      <a:endParaRPr lang="zh-CN" altLang="en-US" sz="1100" b="0" i="0" dirty="0">
                        <a:latin typeface="SimSong" panose="02020300000000000000" pitchFamily="18" charset="-122"/>
                        <a:ea typeface="SimSong" panose="02020300000000000000" pitchFamily="18" charset="-122"/>
                      </a:endParaRPr>
                    </a:p>
                  </a:txBody>
                  <a:tcPr marL="30635" marR="30635" marT="0" marB="0"/>
                </a:tc>
                <a:extLst>
                  <a:ext uri="{0D108BD9-81ED-4DB2-BD59-A6C34878D82A}">
                    <a16:rowId xmlns:a16="http://schemas.microsoft.com/office/drawing/2014/main" val="1530290326"/>
                  </a:ext>
                </a:extLst>
              </a:tr>
              <a:tr h="449939">
                <a:tc vMerge="1">
                  <a:txBody>
                    <a:bodyPr/>
                    <a:lstStyle/>
                    <a:p>
                      <a:endParaRPr lang="zh-CN" altLang="en-US"/>
                    </a:p>
                  </a:txBody>
                  <a:tcPr/>
                </a:tc>
                <a:tc>
                  <a:txBody>
                    <a:bodyPr/>
                    <a:lstStyle/>
                    <a:p>
                      <a:pPr algn="just">
                        <a:lnSpc>
                          <a:spcPts val="2000"/>
                        </a:lnSpc>
                      </a:pPr>
                      <a:r>
                        <a:rPr lang="en-US" sz="1100" b="0" dirty="0"/>
                        <a:t>GPT</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1.</a:t>
                      </a:r>
                      <a:r>
                        <a:rPr lang="zh-CN" altLang="en-US" sz="1100" b="0" dirty="0"/>
                        <a:t>单向；</a:t>
                      </a:r>
                      <a:r>
                        <a:rPr lang="en-US" sz="1100" b="0" dirty="0"/>
                        <a:t>2.</a:t>
                      </a:r>
                      <a:r>
                        <a:rPr lang="zh-CN" altLang="en-US" sz="1100" b="0" dirty="0"/>
                        <a:t>局部和全局信息方式获取一样；</a:t>
                      </a:r>
                      <a:r>
                        <a:rPr lang="en-US" sz="1100" b="0" dirty="0"/>
                        <a:t>3. </a:t>
                      </a:r>
                      <a:r>
                        <a:rPr lang="zh-CN" altLang="en-US" sz="1100" b="0" dirty="0"/>
                        <a:t>超大量数据集和</a:t>
                      </a:r>
                      <a:r>
                        <a:rPr lang="en-US" sz="1100" b="0" dirty="0"/>
                        <a:t>GPU</a:t>
                      </a:r>
                      <a:r>
                        <a:rPr lang="zh-CN" altLang="en-US" sz="1100" b="0" dirty="0"/>
                        <a:t>。</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a:t>1.</a:t>
                      </a:r>
                      <a:r>
                        <a:rPr lang="zh-CN" altLang="en-US" sz="1100" b="0"/>
                        <a:t>基本没有长距离依赖的问题；</a:t>
                      </a:r>
                      <a:r>
                        <a:rPr lang="en-US" sz="1100" b="0"/>
                        <a:t>2.</a:t>
                      </a:r>
                      <a:r>
                        <a:rPr lang="zh-CN" altLang="en-US" sz="1100" b="0"/>
                        <a:t>强生成能力</a:t>
                      </a:r>
                      <a:endParaRPr lang="zh-CN" altLang="en-US" sz="1100" b="0" i="0">
                        <a:latin typeface="SimSong" panose="02020300000000000000" pitchFamily="18" charset="-122"/>
                        <a:ea typeface="SimSong" panose="02020300000000000000" pitchFamily="18" charset="-122"/>
                      </a:endParaRPr>
                    </a:p>
                  </a:txBody>
                  <a:tcPr marL="30635" marR="30635" marT="0" marB="0"/>
                </a:tc>
                <a:extLst>
                  <a:ext uri="{0D108BD9-81ED-4DB2-BD59-A6C34878D82A}">
                    <a16:rowId xmlns:a16="http://schemas.microsoft.com/office/drawing/2014/main" val="2162266729"/>
                  </a:ext>
                </a:extLst>
              </a:tr>
              <a:tr h="450600">
                <a:tc vMerge="1">
                  <a:txBody>
                    <a:bodyPr/>
                    <a:lstStyle/>
                    <a:p>
                      <a:endParaRPr lang="zh-CN" altLang="en-US"/>
                    </a:p>
                  </a:txBody>
                  <a:tcPr/>
                </a:tc>
                <a:tc>
                  <a:txBody>
                    <a:bodyPr/>
                    <a:lstStyle/>
                    <a:p>
                      <a:pPr algn="just">
                        <a:lnSpc>
                          <a:spcPts val="2000"/>
                        </a:lnSpc>
                      </a:pPr>
                      <a:r>
                        <a:rPr lang="en-US" sz="1100" b="0"/>
                        <a:t>XLNET</a:t>
                      </a:r>
                      <a:endParaRPr lang="zh-CN" altLang="en-US" sz="1100" b="0" i="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1.</a:t>
                      </a:r>
                      <a:r>
                        <a:rPr lang="zh-CN" altLang="en-US" sz="1100" b="0" dirty="0"/>
                        <a:t>局部和全局信息方式获取一样；</a:t>
                      </a:r>
                      <a:r>
                        <a:rPr lang="en-US" sz="1100" b="0" dirty="0"/>
                        <a:t>2.</a:t>
                      </a:r>
                      <a:r>
                        <a:rPr lang="zh-CN" altLang="en-US" sz="1100" b="0" dirty="0"/>
                        <a:t>超大量数集和</a:t>
                      </a:r>
                      <a:r>
                        <a:rPr lang="en-US" sz="1100" b="0" dirty="0"/>
                        <a:t>GPU</a:t>
                      </a:r>
                      <a:r>
                        <a:rPr lang="zh-CN" altLang="en-US" sz="1100" b="0" dirty="0"/>
                        <a:t>；</a:t>
                      </a:r>
                      <a:r>
                        <a:rPr lang="en-US" sz="1100" b="0" dirty="0"/>
                        <a:t>3.</a:t>
                      </a:r>
                      <a:r>
                        <a:rPr lang="zh-CN" altLang="en-US" sz="1100" b="0" dirty="0"/>
                        <a:t>模型相对复杂。</a:t>
                      </a:r>
                      <a:endParaRPr lang="zh-CN" altLang="en-US" sz="1100" b="0" i="0" dirty="0">
                        <a:latin typeface="SimSong" panose="02020300000000000000" pitchFamily="18" charset="-122"/>
                        <a:ea typeface="SimSong" panose="02020300000000000000" pitchFamily="18" charset="-122"/>
                      </a:endParaRPr>
                    </a:p>
                  </a:txBody>
                  <a:tcPr marL="30635" marR="30635" marT="0" marB="0"/>
                </a:tc>
                <a:tc>
                  <a:txBody>
                    <a:bodyPr/>
                    <a:lstStyle/>
                    <a:p>
                      <a:pPr algn="just">
                        <a:lnSpc>
                          <a:spcPts val="2000"/>
                        </a:lnSpc>
                      </a:pPr>
                      <a:r>
                        <a:rPr lang="en-US" sz="1100" b="0" dirty="0"/>
                        <a:t>1.</a:t>
                      </a:r>
                      <a:r>
                        <a:rPr lang="zh-CN" altLang="en-US" sz="1100" b="0" dirty="0"/>
                        <a:t>基本没有长距离依赖的问题；</a:t>
                      </a:r>
                      <a:r>
                        <a:rPr lang="en-US" sz="1100" b="0" dirty="0"/>
                        <a:t>2.</a:t>
                      </a:r>
                      <a:r>
                        <a:rPr lang="zh-CN" altLang="en-US" sz="1100" b="0" dirty="0"/>
                        <a:t>较强的上下信息预测；</a:t>
                      </a:r>
                      <a:r>
                        <a:rPr lang="en-US" sz="1100" b="0" dirty="0"/>
                        <a:t>3.</a:t>
                      </a:r>
                      <a:r>
                        <a:rPr lang="zh-CN" altLang="en-US" sz="1100" b="0" dirty="0"/>
                        <a:t>强生成能力；</a:t>
                      </a:r>
                      <a:r>
                        <a:rPr lang="en-US" sz="1100" b="0" dirty="0"/>
                        <a:t>4.</a:t>
                      </a:r>
                      <a:r>
                        <a:rPr lang="zh-CN" altLang="en-US" sz="1100" b="0" dirty="0"/>
                        <a:t>获取更长序列信息；</a:t>
                      </a:r>
                      <a:endParaRPr lang="zh-CN" altLang="en-US" sz="1100" b="0" i="0" dirty="0">
                        <a:latin typeface="SimSong" panose="02020300000000000000" pitchFamily="18" charset="-122"/>
                        <a:ea typeface="SimSong" panose="02020300000000000000" pitchFamily="18" charset="-122"/>
                      </a:endParaRPr>
                    </a:p>
                  </a:txBody>
                  <a:tcPr marL="30635" marR="30635" marT="0" marB="0"/>
                </a:tc>
                <a:extLst>
                  <a:ext uri="{0D108BD9-81ED-4DB2-BD59-A6C34878D82A}">
                    <a16:rowId xmlns:a16="http://schemas.microsoft.com/office/drawing/2014/main" val="2003769830"/>
                  </a:ext>
                </a:extLst>
              </a:tr>
            </a:tbl>
          </a:graphicData>
        </a:graphic>
      </p:graphicFrame>
    </p:spTree>
    <p:extLst>
      <p:ext uri="{BB962C8B-B14F-4D97-AF65-F5344CB8AC3E}">
        <p14:creationId xmlns:p14="http://schemas.microsoft.com/office/powerpoint/2010/main" val="1289844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EC074D-6256-4322-9BBB-95CB3BD67E73}"/>
              </a:ext>
            </a:extLst>
          </p:cNvPr>
          <p:cNvSpPr>
            <a:spLocks noGrp="1"/>
          </p:cNvSpPr>
          <p:nvPr>
            <p:ph type="title"/>
          </p:nvPr>
        </p:nvSpPr>
        <p:spPr/>
        <p:txBody>
          <a:bodyPr>
            <a:normAutofit/>
          </a:bodyPr>
          <a:lstStyle/>
          <a:p>
            <a:r>
              <a:rPr lang="zh-CN" altLang="en-US" sz="2800" dirty="0">
                <a:latin typeface="+mj-ea"/>
              </a:rPr>
              <a:t>为什么引入</a:t>
            </a:r>
            <a:r>
              <a:rPr lang="en-US" altLang="zh-CN" sz="2800" dirty="0">
                <a:latin typeface="+mj-ea"/>
              </a:rPr>
              <a:t>CNN</a:t>
            </a:r>
            <a:r>
              <a:rPr lang="zh-CN" altLang="en-US" sz="2800" dirty="0">
                <a:latin typeface="+mj-ea"/>
              </a:rPr>
              <a:t>与</a:t>
            </a:r>
            <a:r>
              <a:rPr lang="en-US" altLang="zh-CN" sz="2800" dirty="0" err="1">
                <a:latin typeface="+mj-ea"/>
              </a:rPr>
              <a:t>SENet</a:t>
            </a:r>
            <a:r>
              <a:rPr lang="zh-CN" altLang="en-US" sz="2800" dirty="0">
                <a:latin typeface="+mj-ea"/>
              </a:rPr>
              <a:t>在</a:t>
            </a:r>
            <a:r>
              <a:rPr lang="en-US" altLang="zh-CN" sz="2800" dirty="0">
                <a:latin typeface="+mj-ea"/>
              </a:rPr>
              <a:t>Transformer</a:t>
            </a:r>
            <a:endParaRPr lang="zh-CN" altLang="en-US" sz="2800" dirty="0">
              <a:latin typeface="+mj-ea"/>
            </a:endParaRPr>
          </a:p>
        </p:txBody>
      </p:sp>
      <p:sp>
        <p:nvSpPr>
          <p:cNvPr id="3" name="页脚占位符 2">
            <a:extLst>
              <a:ext uri="{FF2B5EF4-FFF2-40B4-BE49-F238E27FC236}">
                <a16:creationId xmlns:a16="http://schemas.microsoft.com/office/drawing/2014/main" id="{79A758AB-CCF6-4F63-BE56-D360AE099820}"/>
              </a:ext>
            </a:extLst>
          </p:cNvPr>
          <p:cNvSpPr>
            <a:spLocks noGrp="1"/>
          </p:cNvSpPr>
          <p:nvPr>
            <p:ph type="ftr" sz="quarter" idx="11"/>
          </p:nvPr>
        </p:nvSpPr>
        <p:spPr>
          <a:xfrm>
            <a:off x="3044954" y="6356350"/>
            <a:ext cx="3505200" cy="365760"/>
          </a:xfrm>
        </p:spPr>
        <p:txBody>
          <a:bodyPr/>
          <a:lstStyle/>
          <a:p>
            <a:pPr algn="ctr"/>
            <a:r>
              <a:rPr lang="zh-CN" altLang="en-US" dirty="0"/>
              <a:t>刘浩</a:t>
            </a:r>
          </a:p>
        </p:txBody>
      </p:sp>
      <p:sp>
        <p:nvSpPr>
          <p:cNvPr id="4" name="灯片编号占位符 3">
            <a:extLst>
              <a:ext uri="{FF2B5EF4-FFF2-40B4-BE49-F238E27FC236}">
                <a16:creationId xmlns:a16="http://schemas.microsoft.com/office/drawing/2014/main" id="{94BD0B38-F0AF-48BD-B236-EB02EF6F0EED}"/>
              </a:ext>
            </a:extLst>
          </p:cNvPr>
          <p:cNvSpPr>
            <a:spLocks noGrp="1"/>
          </p:cNvSpPr>
          <p:nvPr>
            <p:ph type="sldNum" sz="quarter" idx="12"/>
          </p:nvPr>
        </p:nvSpPr>
        <p:spPr/>
        <p:txBody>
          <a:bodyPr/>
          <a:lstStyle/>
          <a:p>
            <a:fld id="{6109356D-A228-4998-B89D-231CFF1B9545}" type="slidenum">
              <a:rPr lang="zh-CN" altLang="en-US" smtClean="0"/>
              <a:t>7</a:t>
            </a:fld>
            <a:endParaRPr lang="zh-CN" altLang="en-US"/>
          </a:p>
        </p:txBody>
      </p:sp>
      <p:sp>
        <p:nvSpPr>
          <p:cNvPr id="5" name="内容占位符 4">
            <a:extLst>
              <a:ext uri="{FF2B5EF4-FFF2-40B4-BE49-F238E27FC236}">
                <a16:creationId xmlns:a16="http://schemas.microsoft.com/office/drawing/2014/main" id="{DDC00CA9-AD58-4943-8BAA-FCF87595A751}"/>
              </a:ext>
            </a:extLst>
          </p:cNvPr>
          <p:cNvSpPr>
            <a:spLocks noGrp="1"/>
          </p:cNvSpPr>
          <p:nvPr>
            <p:ph sz="quarter" idx="1"/>
          </p:nvPr>
        </p:nvSpPr>
        <p:spPr/>
        <p:txBody>
          <a:bodyPr>
            <a:normAutofit/>
          </a:bodyPr>
          <a:lstStyle/>
          <a:p>
            <a:r>
              <a:rPr lang="zh-CN" altLang="en-US" sz="2000" dirty="0">
                <a:latin typeface="+mn-ea"/>
              </a:rPr>
              <a:t>一维</a:t>
            </a:r>
            <a:r>
              <a:rPr lang="en-US" altLang="zh-CN" sz="2000" dirty="0">
                <a:latin typeface="+mn-ea"/>
              </a:rPr>
              <a:t>CNN</a:t>
            </a:r>
            <a:r>
              <a:rPr lang="zh-CN" altLang="en-US" sz="2000" dirty="0">
                <a:latin typeface="+mn-ea"/>
              </a:rPr>
              <a:t>以</a:t>
            </a:r>
            <a:r>
              <a:rPr lang="en-US" altLang="zh-CN" sz="2000" dirty="0">
                <a:latin typeface="+mn-ea"/>
              </a:rPr>
              <a:t>1</a:t>
            </a:r>
            <a:r>
              <a:rPr lang="zh-CN" altLang="en-US" sz="2000" dirty="0">
                <a:latin typeface="+mn-ea"/>
              </a:rPr>
              <a:t>做为卷积核与</a:t>
            </a:r>
            <a:r>
              <a:rPr lang="en-US" altLang="zh-CN" sz="2000" dirty="0">
                <a:latin typeface="+mn-ea"/>
              </a:rPr>
              <a:t>Dense</a:t>
            </a:r>
            <a:r>
              <a:rPr lang="zh-CN" altLang="en-US" sz="2000" dirty="0">
                <a:latin typeface="+mn-ea"/>
              </a:rPr>
              <a:t>等价</a:t>
            </a:r>
            <a:endParaRPr lang="en-US" altLang="zh-CN" sz="2000" dirty="0">
              <a:latin typeface="+mn-ea"/>
            </a:endParaRPr>
          </a:p>
          <a:p>
            <a:r>
              <a:rPr lang="en-US" altLang="zh-CN" sz="2000" dirty="0">
                <a:latin typeface="+mn-ea"/>
              </a:rPr>
              <a:t>Transformer</a:t>
            </a:r>
            <a:r>
              <a:rPr lang="zh-CN" altLang="en-US" sz="2000" dirty="0">
                <a:latin typeface="+mn-ea"/>
              </a:rPr>
              <a:t>或</a:t>
            </a:r>
            <a:r>
              <a:rPr lang="en-US" altLang="zh-CN" sz="2000" dirty="0">
                <a:latin typeface="+mn-ea"/>
              </a:rPr>
              <a:t>BERT</a:t>
            </a:r>
            <a:r>
              <a:rPr lang="zh-CN" altLang="en-US" sz="2000" dirty="0">
                <a:latin typeface="+mn-ea"/>
              </a:rPr>
              <a:t>都是利用全连接的自注意力机制，对局部信息的获取比较弱。</a:t>
            </a:r>
            <a:endParaRPr lang="en-US" altLang="zh-CN" sz="2000" dirty="0">
              <a:latin typeface="+mn-ea"/>
            </a:endParaRPr>
          </a:p>
          <a:p>
            <a:r>
              <a:rPr lang="en-US" altLang="zh-CN" sz="2000" dirty="0">
                <a:latin typeface="+mn-ea"/>
              </a:rPr>
              <a:t>CNN</a:t>
            </a:r>
            <a:r>
              <a:rPr lang="zh-CN" altLang="en-US" sz="2000" dirty="0">
                <a:latin typeface="+mn-ea"/>
              </a:rPr>
              <a:t>可以提取局部信息（</a:t>
            </a:r>
            <a:r>
              <a:rPr lang="en-US" altLang="zh-CN" sz="2000" dirty="0">
                <a:latin typeface="+mn-ea"/>
              </a:rPr>
              <a:t>1</a:t>
            </a:r>
            <a:r>
              <a:rPr lang="zh-CN" altLang="en-US" sz="2000" dirty="0">
                <a:latin typeface="+mn-ea"/>
              </a:rPr>
              <a:t>，</a:t>
            </a:r>
            <a:r>
              <a:rPr lang="en-US" altLang="zh-CN" sz="2000" dirty="0">
                <a:latin typeface="+mn-ea"/>
              </a:rPr>
              <a:t>3</a:t>
            </a:r>
            <a:r>
              <a:rPr lang="zh-CN" altLang="en-US" sz="2000" dirty="0">
                <a:latin typeface="+mn-ea"/>
              </a:rPr>
              <a:t>，</a:t>
            </a:r>
            <a:r>
              <a:rPr lang="en-US" altLang="zh-CN" sz="2000" dirty="0">
                <a:latin typeface="+mn-ea"/>
              </a:rPr>
              <a:t>5</a:t>
            </a:r>
            <a:r>
              <a:rPr lang="zh-CN" altLang="en-US" sz="2000" dirty="0">
                <a:latin typeface="+mn-ea"/>
              </a:rPr>
              <a:t>卷积核），全局信息很重要，但英语中词的意思更多的影响还是局部信息，</a:t>
            </a:r>
            <a:endParaRPr lang="en-US" altLang="zh-CN" sz="2000" dirty="0">
              <a:latin typeface="+mn-ea"/>
            </a:endParaRPr>
          </a:p>
          <a:p>
            <a:pPr marL="274320" lvl="1" indent="0">
              <a:buNone/>
            </a:pPr>
            <a:r>
              <a:rPr lang="zh-CN" altLang="zh-CN" sz="1500" dirty="0">
                <a:latin typeface="宋体" panose="02010600030101010101" pitchFamily="2" charset="-122"/>
                <a:ea typeface="宋体" panose="02010600030101010101" pitchFamily="2" charset="-122"/>
              </a:rPr>
              <a:t>比如句子“</a:t>
            </a:r>
            <a:r>
              <a:rPr lang="en-US" altLang="zh-CN" sz="1500" dirty="0">
                <a:latin typeface="宋体" panose="02010600030101010101" pitchFamily="2" charset="-122"/>
                <a:ea typeface="宋体" panose="02010600030101010101" pitchFamily="2" charset="-122"/>
              </a:rPr>
              <a:t>User is unavailable when I contact him to resolve issue with unavailable service.</a:t>
            </a:r>
            <a:r>
              <a:rPr lang="zh-CN" altLang="zh-CN" sz="1500" dirty="0">
                <a:latin typeface="宋体" panose="02010600030101010101" pitchFamily="2" charset="-122"/>
                <a:ea typeface="宋体" panose="02010600030101010101" pitchFamily="2" charset="-122"/>
              </a:rPr>
              <a:t>”，有两个</a:t>
            </a:r>
            <a:r>
              <a:rPr lang="en-US" altLang="zh-CN" sz="1500" dirty="0">
                <a:latin typeface="宋体" panose="02010600030101010101" pitchFamily="2" charset="-122"/>
                <a:ea typeface="宋体" panose="02010600030101010101" pitchFamily="2" charset="-122"/>
              </a:rPr>
              <a:t>unavailable</a:t>
            </a:r>
            <a:r>
              <a:rPr lang="zh-CN" altLang="zh-CN" sz="1500" dirty="0">
                <a:latin typeface="宋体" panose="02010600030101010101" pitchFamily="2" charset="-122"/>
                <a:ea typeface="宋体" panose="02010600030101010101" pitchFamily="2" charset="-122"/>
              </a:rPr>
              <a:t>单词，很明显第一个</a:t>
            </a:r>
            <a:r>
              <a:rPr lang="en-US" altLang="zh-CN" sz="1500" dirty="0">
                <a:latin typeface="宋体" panose="02010600030101010101" pitchFamily="2" charset="-122"/>
                <a:ea typeface="宋体" panose="02010600030101010101" pitchFamily="2" charset="-122"/>
              </a:rPr>
              <a:t>unavailable</a:t>
            </a:r>
            <a:r>
              <a:rPr lang="zh-CN" altLang="zh-CN" sz="1500" dirty="0">
                <a:latin typeface="宋体" panose="02010600030101010101" pitchFamily="2" charset="-122"/>
                <a:ea typeface="宋体" panose="02010600030101010101" pitchFamily="2" charset="-122"/>
              </a:rPr>
              <a:t>意思与</a:t>
            </a:r>
            <a:r>
              <a:rPr lang="en-US" altLang="zh-CN" sz="1500" dirty="0">
                <a:latin typeface="宋体" panose="02010600030101010101" pitchFamily="2" charset="-122"/>
                <a:ea typeface="宋体" panose="02010600030101010101" pitchFamily="2" charset="-122"/>
              </a:rPr>
              <a:t>User</a:t>
            </a:r>
            <a:r>
              <a:rPr lang="zh-CN" altLang="zh-CN" sz="1500" dirty="0">
                <a:latin typeface="宋体" panose="02010600030101010101" pitchFamily="2" charset="-122"/>
                <a:ea typeface="宋体" panose="02010600030101010101" pitchFamily="2" charset="-122"/>
              </a:rPr>
              <a:t>有很强的依赖关系而第二个</a:t>
            </a:r>
            <a:r>
              <a:rPr lang="en-US" altLang="zh-CN" sz="1500" dirty="0">
                <a:latin typeface="宋体" panose="02010600030101010101" pitchFamily="2" charset="-122"/>
                <a:ea typeface="宋体" panose="02010600030101010101" pitchFamily="2" charset="-122"/>
              </a:rPr>
              <a:t>unavailable</a:t>
            </a:r>
            <a:r>
              <a:rPr lang="zh-CN" altLang="zh-CN" sz="1500" dirty="0">
                <a:latin typeface="宋体" panose="02010600030101010101" pitchFamily="2" charset="-122"/>
                <a:ea typeface="宋体" panose="02010600030101010101" pitchFamily="2" charset="-122"/>
              </a:rPr>
              <a:t>的意思与</a:t>
            </a:r>
            <a:r>
              <a:rPr lang="en-US" altLang="zh-CN" sz="1500" dirty="0">
                <a:latin typeface="宋体" panose="02010600030101010101" pitchFamily="2" charset="-122"/>
                <a:ea typeface="宋体" panose="02010600030101010101" pitchFamily="2" charset="-122"/>
              </a:rPr>
              <a:t>service</a:t>
            </a:r>
            <a:r>
              <a:rPr lang="zh-CN" altLang="zh-CN" sz="1500" dirty="0">
                <a:latin typeface="宋体" panose="02010600030101010101" pitchFamily="2" charset="-122"/>
                <a:ea typeface="宋体" panose="02010600030101010101" pitchFamily="2" charset="-122"/>
              </a:rPr>
              <a:t>有关系和</a:t>
            </a:r>
            <a:r>
              <a:rPr lang="en-US" altLang="zh-CN" sz="1500" dirty="0">
                <a:latin typeface="宋体" panose="02010600030101010101" pitchFamily="2" charset="-122"/>
                <a:ea typeface="宋体" panose="02010600030101010101" pitchFamily="2" charset="-122"/>
              </a:rPr>
              <a:t>User</a:t>
            </a:r>
            <a:r>
              <a:rPr lang="zh-CN" altLang="zh-CN" sz="1500" dirty="0">
                <a:latin typeface="宋体" panose="02010600030101010101" pitchFamily="2" charset="-122"/>
                <a:ea typeface="宋体" panose="02010600030101010101" pitchFamily="2" charset="-122"/>
              </a:rPr>
              <a:t>没有太大的关系， </a:t>
            </a:r>
            <a:r>
              <a:rPr lang="zh-CN" altLang="en-US" sz="1500" dirty="0">
                <a:latin typeface="宋体" panose="02010600030101010101" pitchFamily="2" charset="-122"/>
                <a:ea typeface="宋体" panose="02010600030101010101" pitchFamily="2" charset="-122"/>
              </a:rPr>
              <a:t>再比如</a:t>
            </a:r>
            <a:r>
              <a:rPr lang="en-US" altLang="zh-CN" sz="1500" dirty="0">
                <a:latin typeface="宋体" panose="02010600030101010101" pitchFamily="2" charset="-122"/>
                <a:ea typeface="宋体" panose="02010600030101010101" pitchFamily="2" charset="-122"/>
              </a:rPr>
              <a:t>money </a:t>
            </a:r>
            <a:r>
              <a:rPr lang="en-US" altLang="zh-CN" sz="1500" dirty="0" err="1">
                <a:latin typeface="宋体" panose="02010600030101010101" pitchFamily="2" charset="-122"/>
                <a:ea typeface="宋体" panose="02010600030101010101" pitchFamily="2" charset="-122"/>
              </a:rPr>
              <a:t>implication,client</a:t>
            </a:r>
            <a:r>
              <a:rPr lang="en-US" altLang="zh-CN" sz="1500" dirty="0">
                <a:latin typeface="宋体" panose="02010600030101010101" pitchFamily="2" charset="-122"/>
                <a:ea typeface="宋体" panose="02010600030101010101" pitchFamily="2" charset="-122"/>
              </a:rPr>
              <a:t> </a:t>
            </a:r>
            <a:r>
              <a:rPr lang="en-US" altLang="zh-CN" sz="1500" dirty="0" err="1">
                <a:latin typeface="宋体" panose="02010600030101010101" pitchFamily="2" charset="-122"/>
                <a:ea typeface="宋体" panose="02010600030101010101" pitchFamily="2" charset="-122"/>
              </a:rPr>
              <a:t>impact,short</a:t>
            </a:r>
            <a:r>
              <a:rPr lang="en-US" altLang="zh-CN" sz="1500" dirty="0">
                <a:latin typeface="宋体" panose="02010600030101010101" pitchFamily="2" charset="-122"/>
                <a:ea typeface="宋体" panose="02010600030101010101" pitchFamily="2" charset="-122"/>
              </a:rPr>
              <a:t> </a:t>
            </a:r>
            <a:r>
              <a:rPr lang="en-US" altLang="zh-CN" sz="1500" dirty="0" err="1">
                <a:latin typeface="宋体" panose="02010600030101010101" pitchFamily="2" charset="-122"/>
                <a:ea typeface="宋体" panose="02010600030101010101" pitchFamily="2" charset="-122"/>
              </a:rPr>
              <a:t>window,raise</a:t>
            </a:r>
            <a:r>
              <a:rPr lang="en-US" altLang="zh-CN" sz="1500" dirty="0">
                <a:latin typeface="宋体" panose="02010600030101010101" pitchFamily="2" charset="-122"/>
                <a:ea typeface="宋体" panose="02010600030101010101" pitchFamily="2" charset="-122"/>
              </a:rPr>
              <a:t> exception.</a:t>
            </a:r>
            <a:r>
              <a:rPr lang="zh-CN" altLang="en-US" sz="1500" dirty="0">
                <a:latin typeface="宋体" panose="02010600030101010101" pitchFamily="2" charset="-122"/>
                <a:ea typeface="宋体" panose="02010600030101010101" pitchFamily="2" charset="-122"/>
              </a:rPr>
              <a:t>还有词组，习语（</a:t>
            </a:r>
            <a:r>
              <a:rPr lang="en-US" altLang="zh-CN" sz="1500" dirty="0">
                <a:latin typeface="宋体" panose="02010600030101010101" pitchFamily="2" charset="-122"/>
                <a:ea typeface="宋体" panose="02010600030101010101" pitchFamily="2" charset="-122"/>
              </a:rPr>
              <a:t>cut off/back/up/down, work on/off, under the weather, as soon as possible. Nip it in the bud</a:t>
            </a:r>
            <a:r>
              <a:rPr lang="zh-CN" altLang="en-US" sz="1500" dirty="0">
                <a:latin typeface="宋体" panose="02010600030101010101" pitchFamily="2" charset="-122"/>
                <a:ea typeface="宋体" panose="02010600030101010101" pitchFamily="2" charset="-122"/>
              </a:rPr>
              <a:t>）等等。</a:t>
            </a:r>
            <a:endParaRPr lang="en-US" altLang="zh-CN" sz="1500" dirty="0">
              <a:latin typeface="宋体" panose="02010600030101010101" pitchFamily="2" charset="-122"/>
              <a:ea typeface="宋体" panose="02010600030101010101" pitchFamily="2" charset="-122"/>
            </a:endParaRPr>
          </a:p>
          <a:p>
            <a:r>
              <a:rPr lang="zh-CN" altLang="en-US" sz="2000" dirty="0">
                <a:latin typeface="+mn-ea"/>
              </a:rPr>
              <a:t>邮件分类是多输入的文本分类，每种输入它信息量密度不同。利用</a:t>
            </a:r>
            <a:r>
              <a:rPr lang="en-US" altLang="zh-CN" sz="2000" dirty="0" err="1">
                <a:latin typeface="+mn-ea"/>
              </a:rPr>
              <a:t>SENet</a:t>
            </a:r>
            <a:r>
              <a:rPr lang="zh-CN" altLang="en-US" sz="2000" dirty="0">
                <a:latin typeface="+mn-ea"/>
              </a:rPr>
              <a:t>对不同卷积核提取的信息进行过滤一定程度上起到自动选择卷积核的效果，从而达到不同输入利用不同卷积核提取信息目的。</a:t>
            </a:r>
          </a:p>
        </p:txBody>
      </p:sp>
    </p:spTree>
    <p:extLst>
      <p:ext uri="{BB962C8B-B14F-4D97-AF65-F5344CB8AC3E}">
        <p14:creationId xmlns:p14="http://schemas.microsoft.com/office/powerpoint/2010/main" val="2979035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zh-CN" altLang="en-US" sz="2800" dirty="0">
                <a:sym typeface="+mn-ea"/>
              </a:rPr>
              <a:t>研究内容</a:t>
            </a:r>
            <a:endParaRPr lang="en-US" sz="2800" dirty="0"/>
          </a:p>
        </p:txBody>
      </p:sp>
      <p:sp>
        <p:nvSpPr>
          <p:cNvPr id="3" name="Footer Placeholder 2"/>
          <p:cNvSpPr>
            <a:spLocks noGrp="1"/>
          </p:cNvSpPr>
          <p:nvPr>
            <p:ph type="ftr" sz="quarter" idx="11"/>
          </p:nvPr>
        </p:nvSpPr>
        <p:spPr/>
        <p:txBody>
          <a:bodyPr/>
          <a:lstStyle/>
          <a:p>
            <a:pPr algn="ctr"/>
            <a:r>
              <a:rPr lang="zh-CN" altLang="en-US" dirty="0"/>
              <a:t>刘浩</a:t>
            </a:r>
          </a:p>
        </p:txBody>
      </p:sp>
      <p:sp>
        <p:nvSpPr>
          <p:cNvPr id="4" name="Slide Number Placeholder 3"/>
          <p:cNvSpPr>
            <a:spLocks noGrp="1"/>
          </p:cNvSpPr>
          <p:nvPr>
            <p:ph type="sldNum" sz="quarter" idx="12"/>
          </p:nvPr>
        </p:nvSpPr>
        <p:spPr/>
        <p:txBody>
          <a:bodyPr/>
          <a:lstStyle/>
          <a:p>
            <a:fld id="{6109356D-A228-4998-B89D-231CFF1B9545}" type="slidenum">
              <a:rPr lang="zh-CN" altLang="en-US" smtClean="0"/>
              <a:t>8</a:t>
            </a:fld>
            <a:endParaRPr lang="zh-CN" altLang="en-US"/>
          </a:p>
        </p:txBody>
      </p:sp>
      <p:sp>
        <p:nvSpPr>
          <p:cNvPr id="8" name="Content Placeholder 7"/>
          <p:cNvSpPr>
            <a:spLocks noGrp="1"/>
          </p:cNvSpPr>
          <p:nvPr>
            <p:ph sz="quarter" idx="1"/>
          </p:nvPr>
        </p:nvSpPr>
        <p:spPr/>
        <p:txBody>
          <a:bodyPr/>
          <a:lstStyle/>
          <a:p>
            <a:pPr>
              <a:buFont typeface="Wingdings" panose="05000000000000000000" charset="0"/>
              <a:buChar char="Ø"/>
            </a:pPr>
            <a:r>
              <a:rPr lang="zh-CN" altLang="en-US" sz="2400" dirty="0">
                <a:latin typeface="+mn-ea"/>
              </a:rPr>
              <a:t>设计一种基于</a:t>
            </a:r>
            <a:r>
              <a:rPr lang="en-US" altLang="zh-CN" sz="2400" dirty="0">
                <a:latin typeface="+mn-ea"/>
              </a:rPr>
              <a:t>CNN</a:t>
            </a:r>
            <a:r>
              <a:rPr lang="zh-CN" altLang="en-US" sz="2400" dirty="0">
                <a:latin typeface="+mn-ea"/>
              </a:rPr>
              <a:t>与</a:t>
            </a:r>
            <a:r>
              <a:rPr lang="en-US" altLang="zh-CN" sz="2400" dirty="0" err="1">
                <a:latin typeface="+mn-ea"/>
              </a:rPr>
              <a:t>SENet</a:t>
            </a:r>
            <a:r>
              <a:rPr lang="zh-CN" altLang="en-US" sz="2400" dirty="0">
                <a:latin typeface="+mn-ea"/>
              </a:rPr>
              <a:t>的多输入</a:t>
            </a:r>
            <a:r>
              <a:rPr lang="en-US" altLang="zh-CN" sz="2400" dirty="0">
                <a:latin typeface="+mn-ea"/>
              </a:rPr>
              <a:t>Transformer</a:t>
            </a:r>
            <a:r>
              <a:rPr lang="zh-CN" altLang="en-US" sz="2400" dirty="0">
                <a:latin typeface="+mn-ea"/>
              </a:rPr>
              <a:t>网络模型用于更好地提取局部信息同时不影响全局信息获取。</a:t>
            </a:r>
            <a:endParaRPr lang="en-US" altLang="zh-CN" sz="2400" dirty="0">
              <a:latin typeface="+mn-ea"/>
            </a:endParaRPr>
          </a:p>
          <a:p>
            <a:pPr marL="0" indent="0">
              <a:buNone/>
            </a:pPr>
            <a:r>
              <a:rPr lang="en-US" altLang="zh-CN" sz="2000" dirty="0">
                <a:latin typeface="宋体" panose="02010600030101010101" pitchFamily="2" charset="-122"/>
                <a:ea typeface="宋体" panose="02010600030101010101" pitchFamily="2" charset="-122"/>
                <a:sym typeface="+mn-ea"/>
              </a:rPr>
              <a:t>   </a:t>
            </a:r>
            <a:r>
              <a:rPr lang="zh-CN" altLang="en-US" sz="2000" dirty="0">
                <a:latin typeface="宋体" panose="02010600030101010101" pitchFamily="2" charset="-122"/>
                <a:ea typeface="宋体" panose="02010600030101010101" pitchFamily="2" charset="-122"/>
                <a:sym typeface="+mn-ea"/>
              </a:rPr>
              <a:t>多输入（发件人，邮件标题，邮件内容）</a:t>
            </a:r>
            <a:endParaRPr lang="en-US" altLang="zh-CN" sz="2000" dirty="0">
              <a:latin typeface="宋体" panose="02010600030101010101" pitchFamily="2" charset="-122"/>
              <a:ea typeface="宋体" panose="02010600030101010101" pitchFamily="2" charset="-122"/>
            </a:endParaRPr>
          </a:p>
          <a:p>
            <a:pPr>
              <a:buFont typeface="Wingdings" panose="05000000000000000000" charset="0"/>
              <a:buChar char="Ø"/>
            </a:pPr>
            <a:r>
              <a:rPr lang="zh-CN" altLang="en-US" sz="2400" dirty="0">
                <a:latin typeface="+mn-ea"/>
              </a:rPr>
              <a:t>基于</a:t>
            </a:r>
            <a:r>
              <a:rPr lang="en-US" altLang="zh-CN" sz="2400" dirty="0">
                <a:latin typeface="+mn-ea"/>
              </a:rPr>
              <a:t>CNN</a:t>
            </a:r>
            <a:r>
              <a:rPr lang="zh-CN" altLang="en-US" sz="2400" dirty="0">
                <a:latin typeface="+mn-ea"/>
              </a:rPr>
              <a:t>与</a:t>
            </a:r>
            <a:r>
              <a:rPr lang="en-US" altLang="zh-CN" sz="2400" dirty="0" err="1">
                <a:latin typeface="+mn-ea"/>
              </a:rPr>
              <a:t>SENet</a:t>
            </a:r>
            <a:r>
              <a:rPr lang="zh-CN" altLang="en-US" sz="2400" dirty="0">
                <a:latin typeface="+mn-ea"/>
              </a:rPr>
              <a:t>的多输入</a:t>
            </a:r>
            <a:r>
              <a:rPr lang="en-US" altLang="zh-CN" sz="2400" dirty="0">
                <a:latin typeface="+mn-ea"/>
              </a:rPr>
              <a:t>Transformer</a:t>
            </a:r>
            <a:r>
              <a:rPr lang="zh-CN" altLang="en-US" sz="2400" dirty="0">
                <a:latin typeface="+mn-ea"/>
              </a:rPr>
              <a:t>网络模型的参数优化</a:t>
            </a:r>
            <a:endParaRPr lang="en-US" altLang="zh-CN" sz="2400" dirty="0">
              <a:latin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sz="2800" dirty="0">
                <a:latin typeface="+mj-ea"/>
                <a:sym typeface="+mn-ea"/>
              </a:rPr>
              <a:t>现有</a:t>
            </a:r>
            <a:r>
              <a:rPr lang="en-US" altLang="zh-CN" sz="2800" dirty="0">
                <a:latin typeface="+mj-ea"/>
                <a:sym typeface="+mn-ea"/>
              </a:rPr>
              <a:t>-</a:t>
            </a:r>
            <a:r>
              <a:rPr sz="2800" dirty="0">
                <a:latin typeface="+mj-ea"/>
                <a:sym typeface="+mn-ea"/>
              </a:rPr>
              <a:t>CNNs for Text Classification</a:t>
            </a:r>
          </a:p>
        </p:txBody>
      </p:sp>
      <p:sp>
        <p:nvSpPr>
          <p:cNvPr id="5" name="页脚占位符 4"/>
          <p:cNvSpPr>
            <a:spLocks noGrp="1"/>
          </p:cNvSpPr>
          <p:nvPr>
            <p:ph type="ftr" sz="quarter" idx="11"/>
          </p:nvPr>
        </p:nvSpPr>
        <p:spPr/>
        <p:txBody>
          <a:bodyPr/>
          <a:lstStyle/>
          <a:p>
            <a:pPr algn="ctr"/>
            <a:r>
              <a:rPr lang="zh-CN" altLang="en-US"/>
              <a:t>刘浩</a:t>
            </a:r>
          </a:p>
        </p:txBody>
      </p:sp>
      <p:sp>
        <p:nvSpPr>
          <p:cNvPr id="6" name="灯片编号占位符 5"/>
          <p:cNvSpPr>
            <a:spLocks noGrp="1"/>
          </p:cNvSpPr>
          <p:nvPr>
            <p:ph type="sldNum" sz="quarter" idx="12"/>
          </p:nvPr>
        </p:nvSpPr>
        <p:spPr/>
        <p:txBody>
          <a:bodyPr/>
          <a:lstStyle/>
          <a:p>
            <a:fld id="{6109356D-A228-4998-B89D-231CFF1B9545}" type="slidenum">
              <a:rPr lang="zh-CN" altLang="en-US" smtClean="0"/>
              <a:t>9</a:t>
            </a:fld>
            <a:endParaRPr lang="zh-CN" altLang="en-US"/>
          </a:p>
        </p:txBody>
      </p:sp>
      <p:pic>
        <p:nvPicPr>
          <p:cNvPr id="9" name="内容占位符 8"/>
          <p:cNvPicPr>
            <a:picLocks noGrp="1" noChangeAspect="1"/>
          </p:cNvPicPr>
          <p:nvPr>
            <p:ph sz="quarter" idx="1"/>
          </p:nvPr>
        </p:nvPicPr>
        <p:blipFill>
          <a:blip r:embed="rId2"/>
          <a:stretch>
            <a:fillRect/>
          </a:stretch>
        </p:blipFill>
        <p:spPr>
          <a:xfrm>
            <a:off x="457200" y="1661795"/>
            <a:ext cx="8229600" cy="40513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C3DA99-0113-42E0-A6FE-AD70E2CD1D2A}"/>
              </a:ext>
            </a:extLst>
          </p:cNvPr>
          <p:cNvSpPr>
            <a:spLocks noGrp="1"/>
          </p:cNvSpPr>
          <p:nvPr>
            <p:ph type="title"/>
          </p:nvPr>
        </p:nvSpPr>
        <p:spPr/>
        <p:txBody>
          <a:bodyPr>
            <a:normAutofit/>
          </a:bodyPr>
          <a:lstStyle/>
          <a:p>
            <a:r>
              <a:rPr lang="zh-CN" altLang="en-US" sz="2800" dirty="0">
                <a:latin typeface="+mj-ea"/>
                <a:sym typeface="+mn-ea"/>
              </a:rPr>
              <a:t>贡献</a:t>
            </a:r>
            <a:r>
              <a:rPr lang="en-US" altLang="zh-CN" sz="2800" dirty="0">
                <a:latin typeface="+mj-ea"/>
                <a:sym typeface="+mn-ea"/>
              </a:rPr>
              <a:t>1</a:t>
            </a:r>
            <a:r>
              <a:rPr lang="zh-CN" altLang="en-US" sz="2800" dirty="0">
                <a:latin typeface="+mj-ea"/>
                <a:sym typeface="+mn-ea"/>
              </a:rPr>
              <a:t>：一维</a:t>
            </a:r>
            <a:r>
              <a:rPr lang="en-US" altLang="zh-CN" sz="2800" dirty="0">
                <a:latin typeface="+mj-ea"/>
                <a:sym typeface="+mn-ea"/>
              </a:rPr>
              <a:t>CNN</a:t>
            </a:r>
            <a:r>
              <a:rPr lang="zh-CN" altLang="en-US" sz="2800" dirty="0">
                <a:latin typeface="+mj-ea"/>
                <a:sym typeface="+mn-ea"/>
              </a:rPr>
              <a:t>后加</a:t>
            </a:r>
            <a:r>
              <a:rPr lang="en-US" altLang="zh-CN" sz="2800" dirty="0" err="1">
                <a:latin typeface="+mj-ea"/>
                <a:sym typeface="+mn-ea"/>
              </a:rPr>
              <a:t>SENet</a:t>
            </a:r>
            <a:r>
              <a:rPr lang="zh-CN" altLang="en-US" sz="2800" dirty="0">
                <a:latin typeface="+mj-ea"/>
                <a:sym typeface="+mn-ea"/>
              </a:rPr>
              <a:t>网络</a:t>
            </a:r>
            <a:endParaRPr lang="zh-CN" altLang="en-US" sz="2800" dirty="0">
              <a:latin typeface="+mj-ea"/>
            </a:endParaRPr>
          </a:p>
        </p:txBody>
      </p:sp>
      <p:sp>
        <p:nvSpPr>
          <p:cNvPr id="3" name="页脚占位符 2">
            <a:extLst>
              <a:ext uri="{FF2B5EF4-FFF2-40B4-BE49-F238E27FC236}">
                <a16:creationId xmlns:a16="http://schemas.microsoft.com/office/drawing/2014/main" id="{88F8D530-FFA0-4853-AB4E-F76F7764B255}"/>
              </a:ext>
            </a:extLst>
          </p:cNvPr>
          <p:cNvSpPr>
            <a:spLocks noGrp="1"/>
          </p:cNvSpPr>
          <p:nvPr>
            <p:ph type="ftr" sz="quarter" idx="11"/>
          </p:nvPr>
        </p:nvSpPr>
        <p:spPr/>
        <p:txBody>
          <a:bodyPr/>
          <a:lstStyle/>
          <a:p>
            <a:pPr algn="ctr"/>
            <a:r>
              <a:rPr lang="zh-CN" altLang="en-US" dirty="0"/>
              <a:t>刘浩</a:t>
            </a:r>
          </a:p>
        </p:txBody>
      </p:sp>
      <p:sp>
        <p:nvSpPr>
          <p:cNvPr id="4" name="灯片编号占位符 3">
            <a:extLst>
              <a:ext uri="{FF2B5EF4-FFF2-40B4-BE49-F238E27FC236}">
                <a16:creationId xmlns:a16="http://schemas.microsoft.com/office/drawing/2014/main" id="{3952A50B-DCD4-404F-A4FE-F470C79E8C59}"/>
              </a:ext>
            </a:extLst>
          </p:cNvPr>
          <p:cNvSpPr>
            <a:spLocks noGrp="1"/>
          </p:cNvSpPr>
          <p:nvPr>
            <p:ph type="sldNum" sz="quarter" idx="12"/>
          </p:nvPr>
        </p:nvSpPr>
        <p:spPr/>
        <p:txBody>
          <a:bodyPr/>
          <a:lstStyle/>
          <a:p>
            <a:fld id="{6109356D-A228-4998-B89D-231CFF1B9545}" type="slidenum">
              <a:rPr lang="zh-CN" altLang="en-US" smtClean="0"/>
              <a:t>10</a:t>
            </a:fld>
            <a:endParaRPr lang="zh-CN" altLang="en-US"/>
          </a:p>
        </p:txBody>
      </p:sp>
      <p:pic>
        <p:nvPicPr>
          <p:cNvPr id="8" name="图片 7">
            <a:extLst>
              <a:ext uri="{FF2B5EF4-FFF2-40B4-BE49-F238E27FC236}">
                <a16:creationId xmlns:a16="http://schemas.microsoft.com/office/drawing/2014/main" id="{7865EF9F-E8D5-5B4E-8E7B-E35416058537}"/>
              </a:ext>
            </a:extLst>
          </p:cNvPr>
          <p:cNvPicPr>
            <a:picLocks noChangeAspect="1"/>
          </p:cNvPicPr>
          <p:nvPr/>
        </p:nvPicPr>
        <p:blipFill>
          <a:blip r:embed="rId3"/>
          <a:stretch>
            <a:fillRect/>
          </a:stretch>
        </p:blipFill>
        <p:spPr>
          <a:xfrm>
            <a:off x="430118" y="1341351"/>
            <a:ext cx="8291830" cy="4806279"/>
          </a:xfrm>
          <a:prstGeom prst="rect">
            <a:avLst/>
          </a:prstGeom>
        </p:spPr>
      </p:pic>
    </p:spTree>
    <p:extLst>
      <p:ext uri="{BB962C8B-B14F-4D97-AF65-F5344CB8AC3E}">
        <p14:creationId xmlns:p14="http://schemas.microsoft.com/office/powerpoint/2010/main" val="3901637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3AD73A27-55CC-49B4-A3C1-6C17FAAA1804}"/>
              </a:ext>
            </a:extLst>
          </p:cNvPr>
          <p:cNvSpPr>
            <a:spLocks noGrp="1"/>
          </p:cNvSpPr>
          <p:nvPr>
            <p:ph type="title"/>
          </p:nvPr>
        </p:nvSpPr>
        <p:spPr>
          <a:xfrm>
            <a:off x="457200" y="228600"/>
            <a:ext cx="8435280" cy="914400"/>
          </a:xfrm>
        </p:spPr>
        <p:txBody>
          <a:bodyPr>
            <a:noAutofit/>
          </a:bodyPr>
          <a:lstStyle/>
          <a:p>
            <a:r>
              <a:rPr lang="zh-CN" altLang="en-US" sz="2800" dirty="0">
                <a:latin typeface="+mj-ea"/>
              </a:rPr>
              <a:t>贡献</a:t>
            </a:r>
            <a:r>
              <a:rPr lang="en-US" altLang="zh-CN" sz="2800" dirty="0">
                <a:latin typeface="+mj-ea"/>
              </a:rPr>
              <a:t>2</a:t>
            </a:r>
            <a:r>
              <a:rPr lang="zh-CN" altLang="en-US" sz="2800" dirty="0">
                <a:latin typeface="+mj-ea"/>
              </a:rPr>
              <a:t>：</a:t>
            </a:r>
            <a:r>
              <a:rPr lang="en-US" altLang="zh-CN" sz="2800" dirty="0">
                <a:latin typeface="+mj-ea"/>
              </a:rPr>
              <a:t>CNN-</a:t>
            </a:r>
            <a:r>
              <a:rPr lang="en-US" altLang="zh-CN" sz="2800" dirty="0" err="1">
                <a:latin typeface="+mj-ea"/>
              </a:rPr>
              <a:t>SENet</a:t>
            </a:r>
            <a:r>
              <a:rPr lang="en-US" altLang="zh-CN" sz="2800" dirty="0">
                <a:latin typeface="+mj-ea"/>
              </a:rPr>
              <a:t>-Based Multi-head Attention</a:t>
            </a:r>
            <a:r>
              <a:rPr lang="zh-CN" altLang="en-US" sz="2800" dirty="0">
                <a:latin typeface="+mj-ea"/>
              </a:rPr>
              <a:t>改进</a:t>
            </a:r>
          </a:p>
        </p:txBody>
      </p:sp>
      <p:sp>
        <p:nvSpPr>
          <p:cNvPr id="3" name="页脚占位符 2">
            <a:extLst>
              <a:ext uri="{FF2B5EF4-FFF2-40B4-BE49-F238E27FC236}">
                <a16:creationId xmlns:a16="http://schemas.microsoft.com/office/drawing/2014/main" id="{C1336FDE-2ABB-4B6C-BA96-677D7C42E22E}"/>
              </a:ext>
            </a:extLst>
          </p:cNvPr>
          <p:cNvSpPr>
            <a:spLocks noGrp="1"/>
          </p:cNvSpPr>
          <p:nvPr>
            <p:ph type="ftr" sz="quarter" idx="11"/>
          </p:nvPr>
        </p:nvSpPr>
        <p:spPr/>
        <p:txBody>
          <a:bodyPr/>
          <a:lstStyle/>
          <a:p>
            <a:pPr algn="ctr"/>
            <a:r>
              <a:rPr lang="zh-CN" altLang="en-US" dirty="0"/>
              <a:t>刘浩</a:t>
            </a:r>
          </a:p>
        </p:txBody>
      </p:sp>
      <p:sp>
        <p:nvSpPr>
          <p:cNvPr id="4" name="灯片编号占位符 3">
            <a:extLst>
              <a:ext uri="{FF2B5EF4-FFF2-40B4-BE49-F238E27FC236}">
                <a16:creationId xmlns:a16="http://schemas.microsoft.com/office/drawing/2014/main" id="{C7C12AEC-F84D-4E1D-BB92-EDC44EC4B50A}"/>
              </a:ext>
            </a:extLst>
          </p:cNvPr>
          <p:cNvSpPr>
            <a:spLocks noGrp="1"/>
          </p:cNvSpPr>
          <p:nvPr>
            <p:ph type="sldNum" sz="quarter" idx="12"/>
          </p:nvPr>
        </p:nvSpPr>
        <p:spPr/>
        <p:txBody>
          <a:bodyPr/>
          <a:lstStyle/>
          <a:p>
            <a:fld id="{6109356D-A228-4998-B89D-231CFF1B9545}" type="slidenum">
              <a:rPr lang="zh-CN" altLang="en-US" smtClean="0"/>
              <a:t>11</a:t>
            </a:fld>
            <a:endParaRPr lang="zh-CN" altLang="en-US"/>
          </a:p>
        </p:txBody>
      </p:sp>
      <p:pic>
        <p:nvPicPr>
          <p:cNvPr id="15" name="图片 14">
            <a:extLst>
              <a:ext uri="{FF2B5EF4-FFF2-40B4-BE49-F238E27FC236}">
                <a16:creationId xmlns:a16="http://schemas.microsoft.com/office/drawing/2014/main" id="{5104C7AC-D43C-7543-BAC7-629DD0941C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400" y="1166912"/>
            <a:ext cx="7569200" cy="5189438"/>
          </a:xfrm>
          <a:prstGeom prst="rect">
            <a:avLst/>
          </a:prstGeom>
        </p:spPr>
      </p:pic>
    </p:spTree>
    <p:extLst>
      <p:ext uri="{BB962C8B-B14F-4D97-AF65-F5344CB8AC3E}">
        <p14:creationId xmlns:p14="http://schemas.microsoft.com/office/powerpoint/2010/main" val="2653279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6580CEBB-FAC1-2B91-BDBF-541C7D72E25F}"/>
              </a:ext>
            </a:extLst>
          </p:cNvPr>
          <p:cNvSpPr>
            <a:spLocks noGrp="1"/>
          </p:cNvSpPr>
          <p:nvPr>
            <p:ph type="title"/>
          </p:nvPr>
        </p:nvSpPr>
        <p:spPr/>
        <p:txBody>
          <a:bodyPr>
            <a:normAutofit/>
          </a:bodyPr>
          <a:lstStyle/>
          <a:p>
            <a:r>
              <a:rPr lang="zh-CN" altLang="zh-CN" sz="2800" dirty="0">
                <a:effectLst/>
                <a:latin typeface="+mj-ea"/>
                <a:cs typeface="宋体" panose="02010600030101010101" pitchFamily="2" charset="-122"/>
              </a:rPr>
              <a:t>基于</a:t>
            </a:r>
            <a:r>
              <a:rPr lang="en-US" altLang="zh-CN" sz="2800" dirty="0">
                <a:effectLst/>
                <a:latin typeface="+mj-ea"/>
                <a:cs typeface="宋体" panose="02010600030101010101" pitchFamily="2" charset="-122"/>
              </a:rPr>
              <a:t>CNN</a:t>
            </a:r>
            <a:r>
              <a:rPr lang="zh-CN" altLang="zh-CN" sz="2800" dirty="0">
                <a:effectLst/>
                <a:latin typeface="+mj-ea"/>
                <a:cs typeface="宋体" panose="02010600030101010101" pitchFamily="2" charset="-122"/>
              </a:rPr>
              <a:t>和</a:t>
            </a:r>
            <a:r>
              <a:rPr lang="en-US" altLang="zh-CN" sz="2800" dirty="0" err="1">
                <a:effectLst/>
                <a:latin typeface="+mj-ea"/>
                <a:cs typeface="宋体" panose="02010600030101010101" pitchFamily="2" charset="-122"/>
              </a:rPr>
              <a:t>SENet</a:t>
            </a:r>
            <a:r>
              <a:rPr lang="zh-CN" altLang="zh-CN" sz="2800" dirty="0">
                <a:effectLst/>
                <a:latin typeface="+mj-ea"/>
                <a:cs typeface="宋体" panose="02010600030101010101" pitchFamily="2" charset="-122"/>
              </a:rPr>
              <a:t>多头自注意力的详细</a:t>
            </a:r>
            <a:r>
              <a:rPr lang="zh-CN" altLang="en-US" sz="2800" dirty="0">
                <a:effectLst/>
                <a:latin typeface="+mj-ea"/>
                <a:cs typeface="宋体" panose="02010600030101010101" pitchFamily="2" charset="-122"/>
              </a:rPr>
              <a:t>结</a:t>
            </a:r>
            <a:r>
              <a:rPr lang="zh-CN" altLang="zh-CN" sz="2800" dirty="0">
                <a:effectLst/>
                <a:latin typeface="+mj-ea"/>
                <a:cs typeface="宋体" panose="02010600030101010101" pitchFamily="2" charset="-122"/>
              </a:rPr>
              <a:t>构图</a:t>
            </a:r>
            <a:endParaRPr lang="zh-CN" altLang="en-US" sz="2800" dirty="0">
              <a:latin typeface="+mj-ea"/>
            </a:endParaRPr>
          </a:p>
        </p:txBody>
      </p:sp>
      <p:sp>
        <p:nvSpPr>
          <p:cNvPr id="3" name="页脚占位符 2">
            <a:extLst>
              <a:ext uri="{FF2B5EF4-FFF2-40B4-BE49-F238E27FC236}">
                <a16:creationId xmlns:a16="http://schemas.microsoft.com/office/drawing/2014/main" id="{78E888D8-C0C2-F673-19E9-92EEC00F89E2}"/>
              </a:ext>
            </a:extLst>
          </p:cNvPr>
          <p:cNvSpPr>
            <a:spLocks noGrp="1"/>
          </p:cNvSpPr>
          <p:nvPr>
            <p:ph type="ftr" sz="quarter" idx="11"/>
          </p:nvPr>
        </p:nvSpPr>
        <p:spPr/>
        <p:txBody>
          <a:bodyPr/>
          <a:lstStyle/>
          <a:p>
            <a:pPr algn="ctr"/>
            <a:r>
              <a:rPr lang="zh-CN" altLang="en-US" dirty="0"/>
              <a:t>刘浩</a:t>
            </a:r>
          </a:p>
        </p:txBody>
      </p:sp>
      <p:sp>
        <p:nvSpPr>
          <p:cNvPr id="4" name="灯片编号占位符 3">
            <a:extLst>
              <a:ext uri="{FF2B5EF4-FFF2-40B4-BE49-F238E27FC236}">
                <a16:creationId xmlns:a16="http://schemas.microsoft.com/office/drawing/2014/main" id="{718C777A-D921-B14A-525B-88BA4D35EA9C}"/>
              </a:ext>
            </a:extLst>
          </p:cNvPr>
          <p:cNvSpPr>
            <a:spLocks noGrp="1"/>
          </p:cNvSpPr>
          <p:nvPr>
            <p:ph type="sldNum" sz="quarter" idx="12"/>
          </p:nvPr>
        </p:nvSpPr>
        <p:spPr/>
        <p:txBody>
          <a:bodyPr/>
          <a:lstStyle/>
          <a:p>
            <a:fld id="{6109356D-A228-4998-B89D-231CFF1B9545}" type="slidenum">
              <a:rPr lang="zh-CN" altLang="en-US" smtClean="0"/>
              <a:t>12</a:t>
            </a:fld>
            <a:endParaRPr lang="zh-CN" altLang="en-US"/>
          </a:p>
        </p:txBody>
      </p:sp>
      <p:pic>
        <p:nvPicPr>
          <p:cNvPr id="10" name="内容占位符 9">
            <a:extLst>
              <a:ext uri="{FF2B5EF4-FFF2-40B4-BE49-F238E27FC236}">
                <a16:creationId xmlns:a16="http://schemas.microsoft.com/office/drawing/2014/main" id="{A1F55D56-1BAC-1F92-102B-2A7B5B542357}"/>
              </a:ext>
            </a:extLst>
          </p:cNvPr>
          <p:cNvPicPr>
            <a:picLocks noGrp="1" noChangeAspect="1"/>
          </p:cNvPicPr>
          <p:nvPr>
            <p:ph sz="quarter" idx="1"/>
          </p:nvPr>
        </p:nvPicPr>
        <p:blipFill>
          <a:blip r:embed="rId2"/>
          <a:stretch>
            <a:fillRect/>
          </a:stretch>
        </p:blipFill>
        <p:spPr>
          <a:xfrm>
            <a:off x="2694035" y="1219200"/>
            <a:ext cx="3755930" cy="4937125"/>
          </a:xfrm>
        </p:spPr>
      </p:pic>
    </p:spTree>
    <p:extLst>
      <p:ext uri="{BB962C8B-B14F-4D97-AF65-F5344CB8AC3E}">
        <p14:creationId xmlns:p14="http://schemas.microsoft.com/office/powerpoint/2010/main" val="807221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5BEB91-0492-49F1-B905-1E2E0A03BA89}"/>
              </a:ext>
            </a:extLst>
          </p:cNvPr>
          <p:cNvSpPr>
            <a:spLocks noGrp="1"/>
          </p:cNvSpPr>
          <p:nvPr>
            <p:ph type="title"/>
          </p:nvPr>
        </p:nvSpPr>
        <p:spPr>
          <a:xfrm>
            <a:off x="457200" y="228600"/>
            <a:ext cx="8229600" cy="896144"/>
          </a:xfrm>
        </p:spPr>
        <p:txBody>
          <a:bodyPr>
            <a:normAutofit fontScale="90000"/>
          </a:bodyPr>
          <a:lstStyle/>
          <a:p>
            <a:br>
              <a:rPr lang="en-US" altLang="zh-CN" dirty="0"/>
            </a:br>
            <a:r>
              <a:rPr lang="zh-CN" altLang="en-US" sz="3100" dirty="0">
                <a:latin typeface="+mj-ea"/>
              </a:rPr>
              <a:t>贡献</a:t>
            </a:r>
            <a:r>
              <a:rPr lang="en-US" altLang="zh-CN" sz="3100" dirty="0">
                <a:latin typeface="+mj-ea"/>
              </a:rPr>
              <a:t>3</a:t>
            </a:r>
            <a:r>
              <a:rPr lang="zh-CN" altLang="en-US" sz="3100" dirty="0">
                <a:latin typeface="+mj-ea"/>
              </a:rPr>
              <a:t>：基于</a:t>
            </a:r>
            <a:r>
              <a:rPr lang="en-US" altLang="zh-CN" sz="3100" dirty="0">
                <a:latin typeface="+mj-ea"/>
              </a:rPr>
              <a:t>CNN</a:t>
            </a:r>
            <a:r>
              <a:rPr lang="zh-CN" altLang="en-US" sz="3100" dirty="0">
                <a:latin typeface="+mj-ea"/>
              </a:rPr>
              <a:t>与</a:t>
            </a:r>
            <a:r>
              <a:rPr lang="en-US" altLang="zh-CN" sz="3100" dirty="0" err="1">
                <a:latin typeface="+mj-ea"/>
              </a:rPr>
              <a:t>SENet</a:t>
            </a:r>
            <a:r>
              <a:rPr lang="zh-CN" altLang="en-US" sz="3100" dirty="0">
                <a:latin typeface="+mj-ea"/>
              </a:rPr>
              <a:t>的</a:t>
            </a:r>
            <a:r>
              <a:rPr lang="en-US" altLang="zh-CN" sz="3100" dirty="0">
                <a:latin typeface="+mj-ea"/>
              </a:rPr>
              <a:t>Transformer</a:t>
            </a:r>
            <a:r>
              <a:rPr lang="zh-CN" altLang="en-US" sz="3100" dirty="0">
                <a:latin typeface="+mj-ea"/>
              </a:rPr>
              <a:t>的文本分类模型</a:t>
            </a:r>
          </a:p>
        </p:txBody>
      </p:sp>
      <p:sp>
        <p:nvSpPr>
          <p:cNvPr id="4" name="页脚占位符 3">
            <a:extLst>
              <a:ext uri="{FF2B5EF4-FFF2-40B4-BE49-F238E27FC236}">
                <a16:creationId xmlns:a16="http://schemas.microsoft.com/office/drawing/2014/main" id="{09A442C2-C21A-4078-B4A1-9A576913B8B2}"/>
              </a:ext>
            </a:extLst>
          </p:cNvPr>
          <p:cNvSpPr>
            <a:spLocks noGrp="1"/>
          </p:cNvSpPr>
          <p:nvPr>
            <p:ph type="ftr" sz="quarter" idx="11"/>
          </p:nvPr>
        </p:nvSpPr>
        <p:spPr/>
        <p:txBody>
          <a:bodyPr/>
          <a:lstStyle/>
          <a:p>
            <a:pPr algn="ctr"/>
            <a:r>
              <a:rPr lang="zh-CN" altLang="en-US" dirty="0"/>
              <a:t>刘浩</a:t>
            </a:r>
          </a:p>
        </p:txBody>
      </p:sp>
      <p:sp>
        <p:nvSpPr>
          <p:cNvPr id="5" name="灯片编号占位符 4">
            <a:extLst>
              <a:ext uri="{FF2B5EF4-FFF2-40B4-BE49-F238E27FC236}">
                <a16:creationId xmlns:a16="http://schemas.microsoft.com/office/drawing/2014/main" id="{9429C3D8-6BF1-4A8F-952B-729BC837B0E4}"/>
              </a:ext>
            </a:extLst>
          </p:cNvPr>
          <p:cNvSpPr>
            <a:spLocks noGrp="1"/>
          </p:cNvSpPr>
          <p:nvPr>
            <p:ph type="sldNum" sz="quarter" idx="12"/>
          </p:nvPr>
        </p:nvSpPr>
        <p:spPr/>
        <p:txBody>
          <a:bodyPr/>
          <a:lstStyle/>
          <a:p>
            <a:fld id="{6109356D-A228-4998-B89D-231CFF1B9545}" type="slidenum">
              <a:rPr lang="zh-CN" altLang="en-US" smtClean="0"/>
              <a:t>13</a:t>
            </a:fld>
            <a:endParaRPr lang="zh-CN" altLang="en-US"/>
          </a:p>
        </p:txBody>
      </p:sp>
      <p:pic>
        <p:nvPicPr>
          <p:cNvPr id="12" name="图片 11">
            <a:extLst>
              <a:ext uri="{FF2B5EF4-FFF2-40B4-BE49-F238E27FC236}">
                <a16:creationId xmlns:a16="http://schemas.microsoft.com/office/drawing/2014/main" id="{BD0A58E3-33E6-0F4C-9635-1692B363AF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0634" y="1230446"/>
            <a:ext cx="6922732" cy="5117024"/>
          </a:xfrm>
          <a:prstGeom prst="rect">
            <a:avLst/>
          </a:prstGeom>
        </p:spPr>
      </p:pic>
    </p:spTree>
    <p:extLst>
      <p:ext uri="{BB962C8B-B14F-4D97-AF65-F5344CB8AC3E}">
        <p14:creationId xmlns:p14="http://schemas.microsoft.com/office/powerpoint/2010/main" val="197951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079127-5F36-1144-8710-48C86BC780ED}"/>
              </a:ext>
            </a:extLst>
          </p:cNvPr>
          <p:cNvSpPr>
            <a:spLocks noGrp="1"/>
          </p:cNvSpPr>
          <p:nvPr>
            <p:ph type="title"/>
          </p:nvPr>
        </p:nvSpPr>
        <p:spPr/>
        <p:txBody>
          <a:bodyPr>
            <a:normAutofit/>
          </a:bodyPr>
          <a:lstStyle/>
          <a:p>
            <a:r>
              <a:rPr kumimoji="1" lang="zh-CN" altLang="en-US" sz="2800" dirty="0">
                <a:latin typeface="+mj-ea"/>
              </a:rPr>
              <a:t>贡献</a:t>
            </a:r>
            <a:r>
              <a:rPr kumimoji="1" lang="en-US" altLang="zh-CN" sz="2800" dirty="0">
                <a:latin typeface="+mj-ea"/>
              </a:rPr>
              <a:t>4</a:t>
            </a:r>
            <a:r>
              <a:rPr kumimoji="1" lang="zh-CN" altLang="en-US" sz="2800" dirty="0">
                <a:latin typeface="+mj-ea"/>
              </a:rPr>
              <a:t>：</a:t>
            </a:r>
            <a:r>
              <a:rPr lang="zh-CN" altLang="zh-CN" sz="2800" dirty="0">
                <a:latin typeface="+mj-ea"/>
              </a:rPr>
              <a:t>自动回复邮件系统</a:t>
            </a:r>
            <a:r>
              <a:rPr lang="en-US" altLang="zh-CN" sz="2800" dirty="0">
                <a:latin typeface="+mj-ea"/>
              </a:rPr>
              <a:t>-</a:t>
            </a:r>
            <a:r>
              <a:rPr lang="zh-CN" altLang="en-US" sz="2800" dirty="0">
                <a:latin typeface="+mj-ea"/>
              </a:rPr>
              <a:t>数据流图</a:t>
            </a:r>
            <a:endParaRPr kumimoji="1" lang="zh-CN" altLang="en-US" sz="2800" dirty="0">
              <a:latin typeface="+mj-ea"/>
            </a:endParaRPr>
          </a:p>
        </p:txBody>
      </p:sp>
      <p:sp>
        <p:nvSpPr>
          <p:cNvPr id="3" name="页脚占位符 2">
            <a:extLst>
              <a:ext uri="{FF2B5EF4-FFF2-40B4-BE49-F238E27FC236}">
                <a16:creationId xmlns:a16="http://schemas.microsoft.com/office/drawing/2014/main" id="{2AFF4756-2403-5F48-9EC6-512A2D1725CA}"/>
              </a:ext>
            </a:extLst>
          </p:cNvPr>
          <p:cNvSpPr>
            <a:spLocks noGrp="1"/>
          </p:cNvSpPr>
          <p:nvPr>
            <p:ph type="ftr" sz="quarter" idx="11"/>
          </p:nvPr>
        </p:nvSpPr>
        <p:spPr/>
        <p:txBody>
          <a:bodyPr/>
          <a:lstStyle/>
          <a:p>
            <a:pPr algn="ctr"/>
            <a:r>
              <a:rPr lang="zh-CN" altLang="en-US" dirty="0"/>
              <a:t>刘浩</a:t>
            </a:r>
          </a:p>
        </p:txBody>
      </p:sp>
      <p:sp>
        <p:nvSpPr>
          <p:cNvPr id="4" name="灯片编号占位符 3">
            <a:extLst>
              <a:ext uri="{FF2B5EF4-FFF2-40B4-BE49-F238E27FC236}">
                <a16:creationId xmlns:a16="http://schemas.microsoft.com/office/drawing/2014/main" id="{238F24D2-767C-4845-8D21-9D6EAF9013DC}"/>
              </a:ext>
            </a:extLst>
          </p:cNvPr>
          <p:cNvSpPr>
            <a:spLocks noGrp="1"/>
          </p:cNvSpPr>
          <p:nvPr>
            <p:ph type="sldNum" sz="quarter" idx="12"/>
          </p:nvPr>
        </p:nvSpPr>
        <p:spPr/>
        <p:txBody>
          <a:bodyPr/>
          <a:lstStyle/>
          <a:p>
            <a:fld id="{6109356D-A228-4998-B89D-231CFF1B9545}" type="slidenum">
              <a:rPr lang="zh-CN" altLang="en-US" smtClean="0"/>
              <a:t>14</a:t>
            </a:fld>
            <a:endParaRPr lang="zh-CN" altLang="en-US"/>
          </a:p>
        </p:txBody>
      </p:sp>
      <p:pic>
        <p:nvPicPr>
          <p:cNvPr id="8" name="图片 7">
            <a:extLst>
              <a:ext uri="{FF2B5EF4-FFF2-40B4-BE49-F238E27FC236}">
                <a16:creationId xmlns:a16="http://schemas.microsoft.com/office/drawing/2014/main" id="{F690572B-BEA4-B148-968E-19EC29F89C2A}"/>
              </a:ext>
            </a:extLst>
          </p:cNvPr>
          <p:cNvPicPr>
            <a:picLocks noChangeAspect="1"/>
          </p:cNvPicPr>
          <p:nvPr/>
        </p:nvPicPr>
        <p:blipFill>
          <a:blip r:embed="rId2"/>
          <a:stretch>
            <a:fillRect/>
          </a:stretch>
        </p:blipFill>
        <p:spPr>
          <a:xfrm>
            <a:off x="1403647" y="1268760"/>
            <a:ext cx="6836501" cy="4896543"/>
          </a:xfrm>
          <a:prstGeom prst="rect">
            <a:avLst/>
          </a:prstGeom>
        </p:spPr>
      </p:pic>
    </p:spTree>
    <p:extLst>
      <p:ext uri="{BB962C8B-B14F-4D97-AF65-F5344CB8AC3E}">
        <p14:creationId xmlns:p14="http://schemas.microsoft.com/office/powerpoint/2010/main" val="3155927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A0E67A-6ECD-244C-B43A-C3A589DD21A9}"/>
              </a:ext>
            </a:extLst>
          </p:cNvPr>
          <p:cNvSpPr>
            <a:spLocks noGrp="1"/>
          </p:cNvSpPr>
          <p:nvPr>
            <p:ph type="title"/>
          </p:nvPr>
        </p:nvSpPr>
        <p:spPr/>
        <p:txBody>
          <a:bodyPr>
            <a:normAutofit/>
          </a:bodyPr>
          <a:lstStyle/>
          <a:p>
            <a:r>
              <a:rPr kumimoji="1" lang="zh-CN" altLang="en-US" sz="2800" dirty="0">
                <a:latin typeface="+mj-ea"/>
              </a:rPr>
              <a:t>贡献</a:t>
            </a:r>
            <a:r>
              <a:rPr kumimoji="1" lang="en-US" altLang="zh-CN" sz="2800" dirty="0">
                <a:latin typeface="+mj-ea"/>
              </a:rPr>
              <a:t>4</a:t>
            </a:r>
            <a:r>
              <a:rPr kumimoji="1" lang="zh-CN" altLang="en-US" sz="2800" dirty="0">
                <a:latin typeface="+mj-ea"/>
              </a:rPr>
              <a:t>：</a:t>
            </a:r>
            <a:r>
              <a:rPr lang="zh-CN" altLang="zh-CN" sz="2800" dirty="0">
                <a:latin typeface="+mj-ea"/>
              </a:rPr>
              <a:t>自动回复邮件系统</a:t>
            </a:r>
            <a:r>
              <a:rPr lang="en-US" altLang="zh-CN" sz="2800" dirty="0">
                <a:latin typeface="+mj-ea"/>
              </a:rPr>
              <a:t>-</a:t>
            </a:r>
            <a:r>
              <a:rPr lang="zh-CN" altLang="en-US" sz="2800" dirty="0">
                <a:latin typeface="+mj-ea"/>
              </a:rPr>
              <a:t>实现</a:t>
            </a:r>
            <a:endParaRPr kumimoji="1" lang="zh-CN" altLang="en-US" sz="2800" dirty="0">
              <a:latin typeface="+mj-ea"/>
            </a:endParaRPr>
          </a:p>
        </p:txBody>
      </p:sp>
      <p:sp>
        <p:nvSpPr>
          <p:cNvPr id="3" name="页脚占位符 2">
            <a:extLst>
              <a:ext uri="{FF2B5EF4-FFF2-40B4-BE49-F238E27FC236}">
                <a16:creationId xmlns:a16="http://schemas.microsoft.com/office/drawing/2014/main" id="{BAA2EB26-EB83-294E-B947-F75E3A7F72C9}"/>
              </a:ext>
            </a:extLst>
          </p:cNvPr>
          <p:cNvSpPr>
            <a:spLocks noGrp="1"/>
          </p:cNvSpPr>
          <p:nvPr>
            <p:ph type="ftr" sz="quarter" idx="11"/>
          </p:nvPr>
        </p:nvSpPr>
        <p:spPr/>
        <p:txBody>
          <a:bodyPr/>
          <a:lstStyle/>
          <a:p>
            <a:pPr algn="ctr"/>
            <a:r>
              <a:rPr lang="zh-CN" altLang="en-US" dirty="0"/>
              <a:t>刘浩</a:t>
            </a:r>
          </a:p>
        </p:txBody>
      </p:sp>
      <p:sp>
        <p:nvSpPr>
          <p:cNvPr id="4" name="灯片编号占位符 3">
            <a:extLst>
              <a:ext uri="{FF2B5EF4-FFF2-40B4-BE49-F238E27FC236}">
                <a16:creationId xmlns:a16="http://schemas.microsoft.com/office/drawing/2014/main" id="{31D950C7-7C97-0446-AF26-2F11FCD9DA1A}"/>
              </a:ext>
            </a:extLst>
          </p:cNvPr>
          <p:cNvSpPr>
            <a:spLocks noGrp="1"/>
          </p:cNvSpPr>
          <p:nvPr>
            <p:ph type="sldNum" sz="quarter" idx="12"/>
          </p:nvPr>
        </p:nvSpPr>
        <p:spPr/>
        <p:txBody>
          <a:bodyPr/>
          <a:lstStyle/>
          <a:p>
            <a:fld id="{6109356D-A228-4998-B89D-231CFF1B9545}" type="slidenum">
              <a:rPr lang="zh-CN" altLang="en-US" smtClean="0"/>
              <a:t>15</a:t>
            </a:fld>
            <a:endParaRPr lang="zh-CN" altLang="en-US"/>
          </a:p>
        </p:txBody>
      </p:sp>
      <p:pic>
        <p:nvPicPr>
          <p:cNvPr id="7" name="Picture 24">
            <a:extLst>
              <a:ext uri="{FF2B5EF4-FFF2-40B4-BE49-F238E27FC236}">
                <a16:creationId xmlns:a16="http://schemas.microsoft.com/office/drawing/2014/main" id="{DD0E8982-0378-B345-B6E4-2F7722BCB00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2648" y="1340768"/>
            <a:ext cx="8120188" cy="4392488"/>
          </a:xfrm>
          <a:prstGeom prst="rect">
            <a:avLst/>
          </a:prstGeom>
          <a:noFill/>
          <a:ln>
            <a:noFill/>
          </a:ln>
        </p:spPr>
      </p:pic>
    </p:spTree>
    <p:extLst>
      <p:ext uri="{BB962C8B-B14F-4D97-AF65-F5344CB8AC3E}">
        <p14:creationId xmlns:p14="http://schemas.microsoft.com/office/powerpoint/2010/main" val="569033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A0E67A-6ECD-244C-B43A-C3A589DD21A9}"/>
              </a:ext>
            </a:extLst>
          </p:cNvPr>
          <p:cNvSpPr>
            <a:spLocks noGrp="1"/>
          </p:cNvSpPr>
          <p:nvPr>
            <p:ph type="title"/>
          </p:nvPr>
        </p:nvSpPr>
        <p:spPr/>
        <p:txBody>
          <a:bodyPr>
            <a:normAutofit/>
          </a:bodyPr>
          <a:lstStyle/>
          <a:p>
            <a:r>
              <a:rPr kumimoji="1" lang="zh-CN" altLang="en-US" sz="2800" dirty="0">
                <a:latin typeface="+mj-ea"/>
              </a:rPr>
              <a:t>贡献</a:t>
            </a:r>
            <a:r>
              <a:rPr kumimoji="1" lang="en-US" altLang="zh-CN" sz="2800" dirty="0">
                <a:latin typeface="+mj-ea"/>
              </a:rPr>
              <a:t>4</a:t>
            </a:r>
            <a:r>
              <a:rPr kumimoji="1" lang="zh-CN" altLang="en-US" sz="2800" dirty="0">
                <a:latin typeface="+mj-ea"/>
              </a:rPr>
              <a:t>：</a:t>
            </a:r>
            <a:r>
              <a:rPr lang="zh-CN" altLang="zh-CN" sz="2800" dirty="0">
                <a:latin typeface="+mj-ea"/>
              </a:rPr>
              <a:t>自动回复邮件系统</a:t>
            </a:r>
            <a:r>
              <a:rPr lang="en-US" altLang="zh-CN" sz="2800" dirty="0">
                <a:latin typeface="+mj-ea"/>
              </a:rPr>
              <a:t>-</a:t>
            </a:r>
            <a:r>
              <a:rPr lang="zh-CN" altLang="en-US" sz="2800" dirty="0">
                <a:latin typeface="+mj-ea"/>
              </a:rPr>
              <a:t>实现</a:t>
            </a:r>
            <a:endParaRPr kumimoji="1" lang="zh-CN" altLang="en-US" sz="2800" dirty="0">
              <a:latin typeface="+mj-ea"/>
            </a:endParaRPr>
          </a:p>
        </p:txBody>
      </p:sp>
      <p:sp>
        <p:nvSpPr>
          <p:cNvPr id="3" name="页脚占位符 2">
            <a:extLst>
              <a:ext uri="{FF2B5EF4-FFF2-40B4-BE49-F238E27FC236}">
                <a16:creationId xmlns:a16="http://schemas.microsoft.com/office/drawing/2014/main" id="{BAA2EB26-EB83-294E-B947-F75E3A7F72C9}"/>
              </a:ext>
            </a:extLst>
          </p:cNvPr>
          <p:cNvSpPr>
            <a:spLocks noGrp="1"/>
          </p:cNvSpPr>
          <p:nvPr>
            <p:ph type="ftr" sz="quarter" idx="11"/>
          </p:nvPr>
        </p:nvSpPr>
        <p:spPr/>
        <p:txBody>
          <a:bodyPr/>
          <a:lstStyle/>
          <a:p>
            <a:pPr algn="ctr"/>
            <a:r>
              <a:rPr lang="zh-CN" altLang="en-US" dirty="0"/>
              <a:t>刘浩</a:t>
            </a:r>
          </a:p>
        </p:txBody>
      </p:sp>
      <p:sp>
        <p:nvSpPr>
          <p:cNvPr id="4" name="灯片编号占位符 3">
            <a:extLst>
              <a:ext uri="{FF2B5EF4-FFF2-40B4-BE49-F238E27FC236}">
                <a16:creationId xmlns:a16="http://schemas.microsoft.com/office/drawing/2014/main" id="{31D950C7-7C97-0446-AF26-2F11FCD9DA1A}"/>
              </a:ext>
            </a:extLst>
          </p:cNvPr>
          <p:cNvSpPr>
            <a:spLocks noGrp="1"/>
          </p:cNvSpPr>
          <p:nvPr>
            <p:ph type="sldNum" sz="quarter" idx="12"/>
          </p:nvPr>
        </p:nvSpPr>
        <p:spPr/>
        <p:txBody>
          <a:bodyPr/>
          <a:lstStyle/>
          <a:p>
            <a:fld id="{6109356D-A228-4998-B89D-231CFF1B9545}" type="slidenum">
              <a:rPr lang="zh-CN" altLang="en-US" smtClean="0"/>
              <a:t>16</a:t>
            </a:fld>
            <a:endParaRPr lang="zh-CN" altLang="en-US"/>
          </a:p>
        </p:txBody>
      </p:sp>
      <p:pic>
        <p:nvPicPr>
          <p:cNvPr id="6" name="图片 5">
            <a:extLst>
              <a:ext uri="{FF2B5EF4-FFF2-40B4-BE49-F238E27FC236}">
                <a16:creationId xmlns:a16="http://schemas.microsoft.com/office/drawing/2014/main" id="{76C6B89D-42FE-6644-8ABF-D3BC929AF66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219946"/>
            <a:ext cx="7200800" cy="5059458"/>
          </a:xfrm>
          <a:prstGeom prst="rect">
            <a:avLst/>
          </a:prstGeom>
          <a:noFill/>
          <a:ln>
            <a:noFill/>
          </a:ln>
        </p:spPr>
      </p:pic>
    </p:spTree>
    <p:extLst>
      <p:ext uri="{BB962C8B-B14F-4D97-AF65-F5344CB8AC3E}">
        <p14:creationId xmlns:p14="http://schemas.microsoft.com/office/powerpoint/2010/main" val="3067723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90C582-3479-C74B-A67F-DF5DF2A74FE5}"/>
              </a:ext>
            </a:extLst>
          </p:cNvPr>
          <p:cNvSpPr>
            <a:spLocks noGrp="1"/>
          </p:cNvSpPr>
          <p:nvPr>
            <p:ph type="title"/>
          </p:nvPr>
        </p:nvSpPr>
        <p:spPr>
          <a:xfrm>
            <a:off x="457200" y="152400"/>
            <a:ext cx="8229600" cy="714375"/>
          </a:xfrm>
        </p:spPr>
        <p:txBody>
          <a:bodyPr>
            <a:normAutofit/>
          </a:bodyPr>
          <a:lstStyle/>
          <a:p>
            <a:r>
              <a:rPr kumimoji="1" lang="en-US" altLang="zh-CN" sz="2800" dirty="0">
                <a:latin typeface="+mj-ea"/>
              </a:rPr>
              <a:t>CS-transformer</a:t>
            </a:r>
            <a:r>
              <a:rPr kumimoji="1" lang="zh-CN" altLang="en-US" sz="2800" dirty="0">
                <a:latin typeface="+mj-ea"/>
              </a:rPr>
              <a:t>与常见的模型实验结果比较</a:t>
            </a:r>
          </a:p>
        </p:txBody>
      </p:sp>
      <p:sp>
        <p:nvSpPr>
          <p:cNvPr id="3" name="页脚占位符 2">
            <a:extLst>
              <a:ext uri="{FF2B5EF4-FFF2-40B4-BE49-F238E27FC236}">
                <a16:creationId xmlns:a16="http://schemas.microsoft.com/office/drawing/2014/main" id="{8B6D2F58-CBA7-8B40-B7C1-8DB8EE4F1AF6}"/>
              </a:ext>
            </a:extLst>
          </p:cNvPr>
          <p:cNvSpPr>
            <a:spLocks noGrp="1"/>
          </p:cNvSpPr>
          <p:nvPr>
            <p:ph type="ftr" sz="quarter" idx="11"/>
          </p:nvPr>
        </p:nvSpPr>
        <p:spPr/>
        <p:txBody>
          <a:bodyPr/>
          <a:lstStyle/>
          <a:p>
            <a:pPr algn="ctr"/>
            <a:r>
              <a:rPr lang="zh-CN" altLang="en-US" dirty="0"/>
              <a:t>刘浩</a:t>
            </a:r>
          </a:p>
        </p:txBody>
      </p:sp>
      <p:sp>
        <p:nvSpPr>
          <p:cNvPr id="4" name="灯片编号占位符 3">
            <a:extLst>
              <a:ext uri="{FF2B5EF4-FFF2-40B4-BE49-F238E27FC236}">
                <a16:creationId xmlns:a16="http://schemas.microsoft.com/office/drawing/2014/main" id="{222DADD4-89F2-534E-95D5-9836DC4072AC}"/>
              </a:ext>
            </a:extLst>
          </p:cNvPr>
          <p:cNvSpPr>
            <a:spLocks noGrp="1"/>
          </p:cNvSpPr>
          <p:nvPr>
            <p:ph type="sldNum" sz="quarter" idx="12"/>
          </p:nvPr>
        </p:nvSpPr>
        <p:spPr/>
        <p:txBody>
          <a:bodyPr/>
          <a:lstStyle/>
          <a:p>
            <a:fld id="{6109356D-A228-4998-B89D-231CFF1B9545}" type="slidenum">
              <a:rPr lang="zh-CN" altLang="en-US" smtClean="0"/>
              <a:t>17</a:t>
            </a:fld>
            <a:endParaRPr lang="zh-CN" altLang="en-US"/>
          </a:p>
        </p:txBody>
      </p:sp>
      <p:pic>
        <p:nvPicPr>
          <p:cNvPr id="7" name="内容占位符 6">
            <a:extLst>
              <a:ext uri="{FF2B5EF4-FFF2-40B4-BE49-F238E27FC236}">
                <a16:creationId xmlns:a16="http://schemas.microsoft.com/office/drawing/2014/main" id="{6C9124CA-27CC-CA4D-BE0F-B7138083F796}"/>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871700" y="980728"/>
            <a:ext cx="5400600" cy="5375622"/>
          </a:xfrm>
        </p:spPr>
      </p:pic>
    </p:spTree>
    <p:extLst>
      <p:ext uri="{BB962C8B-B14F-4D97-AF65-F5344CB8AC3E}">
        <p14:creationId xmlns:p14="http://schemas.microsoft.com/office/powerpoint/2010/main" val="3866397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3E1F3F-C542-FD44-8324-2FCB56378253}"/>
              </a:ext>
            </a:extLst>
          </p:cNvPr>
          <p:cNvSpPr>
            <a:spLocks noGrp="1"/>
          </p:cNvSpPr>
          <p:nvPr>
            <p:ph type="title"/>
          </p:nvPr>
        </p:nvSpPr>
        <p:spPr/>
        <p:txBody>
          <a:bodyPr>
            <a:normAutofit/>
          </a:bodyPr>
          <a:lstStyle/>
          <a:p>
            <a:r>
              <a:rPr kumimoji="1" lang="en-US" altLang="zh-CN" sz="2800" dirty="0">
                <a:latin typeface="+mj-ea"/>
              </a:rPr>
              <a:t>CS-Transformer</a:t>
            </a:r>
            <a:r>
              <a:rPr kumimoji="1" lang="zh-CN" altLang="en-US" sz="2800" dirty="0">
                <a:latin typeface="+mj-ea"/>
              </a:rPr>
              <a:t>训练评估</a:t>
            </a:r>
          </a:p>
        </p:txBody>
      </p:sp>
      <p:sp>
        <p:nvSpPr>
          <p:cNvPr id="3" name="页脚占位符 2">
            <a:extLst>
              <a:ext uri="{FF2B5EF4-FFF2-40B4-BE49-F238E27FC236}">
                <a16:creationId xmlns:a16="http://schemas.microsoft.com/office/drawing/2014/main" id="{920299DE-E06C-B740-9EE7-97D4A476006B}"/>
              </a:ext>
            </a:extLst>
          </p:cNvPr>
          <p:cNvSpPr>
            <a:spLocks noGrp="1"/>
          </p:cNvSpPr>
          <p:nvPr>
            <p:ph type="ftr" sz="quarter" idx="11"/>
          </p:nvPr>
        </p:nvSpPr>
        <p:spPr/>
        <p:txBody>
          <a:bodyPr/>
          <a:lstStyle/>
          <a:p>
            <a:pPr algn="ctr"/>
            <a:r>
              <a:rPr lang="zh-CN" altLang="en-US" dirty="0"/>
              <a:t>刘浩</a:t>
            </a:r>
          </a:p>
        </p:txBody>
      </p:sp>
      <p:sp>
        <p:nvSpPr>
          <p:cNvPr id="4" name="灯片编号占位符 3">
            <a:extLst>
              <a:ext uri="{FF2B5EF4-FFF2-40B4-BE49-F238E27FC236}">
                <a16:creationId xmlns:a16="http://schemas.microsoft.com/office/drawing/2014/main" id="{D66583FB-0FB4-E843-A9BF-288E361039D1}"/>
              </a:ext>
            </a:extLst>
          </p:cNvPr>
          <p:cNvSpPr>
            <a:spLocks noGrp="1"/>
          </p:cNvSpPr>
          <p:nvPr>
            <p:ph type="sldNum" sz="quarter" idx="12"/>
          </p:nvPr>
        </p:nvSpPr>
        <p:spPr/>
        <p:txBody>
          <a:bodyPr/>
          <a:lstStyle/>
          <a:p>
            <a:fld id="{6109356D-A228-4998-B89D-231CFF1B9545}" type="slidenum">
              <a:rPr lang="zh-CN" altLang="en-US" smtClean="0"/>
              <a:t>18</a:t>
            </a:fld>
            <a:endParaRPr lang="zh-CN" altLang="en-US"/>
          </a:p>
        </p:txBody>
      </p:sp>
      <p:pic>
        <p:nvPicPr>
          <p:cNvPr id="7" name="内容占位符 6">
            <a:extLst>
              <a:ext uri="{FF2B5EF4-FFF2-40B4-BE49-F238E27FC236}">
                <a16:creationId xmlns:a16="http://schemas.microsoft.com/office/drawing/2014/main" id="{37A40526-8C01-1E4B-9A4E-7AF9DA5444FA}"/>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57200" y="1268760"/>
            <a:ext cx="8229600" cy="4896543"/>
          </a:xfrm>
        </p:spPr>
      </p:pic>
    </p:spTree>
    <p:extLst>
      <p:ext uri="{BB962C8B-B14F-4D97-AF65-F5344CB8AC3E}">
        <p14:creationId xmlns:p14="http://schemas.microsoft.com/office/powerpoint/2010/main" val="1122080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A208EE-C6BC-8E40-8DDF-7DCA150FFB16}"/>
              </a:ext>
            </a:extLst>
          </p:cNvPr>
          <p:cNvSpPr>
            <a:spLocks noGrp="1"/>
          </p:cNvSpPr>
          <p:nvPr>
            <p:ph type="title"/>
          </p:nvPr>
        </p:nvSpPr>
        <p:spPr/>
        <p:txBody>
          <a:bodyPr>
            <a:normAutofit/>
          </a:bodyPr>
          <a:lstStyle/>
          <a:p>
            <a:r>
              <a:rPr kumimoji="1" lang="en-US" altLang="zh-CN" sz="2800" dirty="0">
                <a:latin typeface="+mj-ea"/>
              </a:rPr>
              <a:t>CS-Transformer</a:t>
            </a:r>
            <a:r>
              <a:rPr kumimoji="1" lang="zh-CN" altLang="en-US" sz="2800" dirty="0">
                <a:latin typeface="+mj-ea"/>
              </a:rPr>
              <a:t>模型</a:t>
            </a:r>
            <a:r>
              <a:rPr kumimoji="1" lang="en-US" altLang="zh-CN" sz="2800" dirty="0">
                <a:latin typeface="+mj-ea"/>
              </a:rPr>
              <a:t>Encoder</a:t>
            </a:r>
            <a:r>
              <a:rPr kumimoji="1" lang="zh-CN" altLang="en-US" sz="2800" dirty="0">
                <a:latin typeface="+mj-ea"/>
              </a:rPr>
              <a:t>超参数</a:t>
            </a:r>
          </a:p>
        </p:txBody>
      </p:sp>
      <p:sp>
        <p:nvSpPr>
          <p:cNvPr id="3" name="页脚占位符 2">
            <a:extLst>
              <a:ext uri="{FF2B5EF4-FFF2-40B4-BE49-F238E27FC236}">
                <a16:creationId xmlns:a16="http://schemas.microsoft.com/office/drawing/2014/main" id="{8DE5644B-1594-3F4F-B495-4C2748F7498D}"/>
              </a:ext>
            </a:extLst>
          </p:cNvPr>
          <p:cNvSpPr>
            <a:spLocks noGrp="1"/>
          </p:cNvSpPr>
          <p:nvPr>
            <p:ph type="ftr" sz="quarter" idx="11"/>
          </p:nvPr>
        </p:nvSpPr>
        <p:spPr/>
        <p:txBody>
          <a:bodyPr/>
          <a:lstStyle/>
          <a:p>
            <a:pPr algn="ctr"/>
            <a:r>
              <a:rPr lang="zh-CN" altLang="en-US" dirty="0"/>
              <a:t>刘浩</a:t>
            </a:r>
          </a:p>
        </p:txBody>
      </p:sp>
      <p:sp>
        <p:nvSpPr>
          <p:cNvPr id="4" name="灯片编号占位符 3">
            <a:extLst>
              <a:ext uri="{FF2B5EF4-FFF2-40B4-BE49-F238E27FC236}">
                <a16:creationId xmlns:a16="http://schemas.microsoft.com/office/drawing/2014/main" id="{2D73E786-B9C5-484C-BA64-913CE8AA251A}"/>
              </a:ext>
            </a:extLst>
          </p:cNvPr>
          <p:cNvSpPr>
            <a:spLocks noGrp="1"/>
          </p:cNvSpPr>
          <p:nvPr>
            <p:ph type="sldNum" sz="quarter" idx="12"/>
          </p:nvPr>
        </p:nvSpPr>
        <p:spPr/>
        <p:txBody>
          <a:bodyPr/>
          <a:lstStyle/>
          <a:p>
            <a:fld id="{6109356D-A228-4998-B89D-231CFF1B9545}" type="slidenum">
              <a:rPr lang="zh-CN" altLang="en-US" smtClean="0"/>
              <a:t>19</a:t>
            </a:fld>
            <a:endParaRPr lang="zh-CN" altLang="en-US"/>
          </a:p>
        </p:txBody>
      </p:sp>
      <p:pic>
        <p:nvPicPr>
          <p:cNvPr id="6" name="内容占位符 5">
            <a:extLst>
              <a:ext uri="{FF2B5EF4-FFF2-40B4-BE49-F238E27FC236}">
                <a16:creationId xmlns:a16="http://schemas.microsoft.com/office/drawing/2014/main" id="{EF4BA7B4-AC3B-AA44-986D-2BB9C6813C8C}"/>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583788" y="1219084"/>
            <a:ext cx="8229600" cy="4946220"/>
          </a:xfrm>
          <a:prstGeom prst="rect">
            <a:avLst/>
          </a:prstGeom>
        </p:spPr>
      </p:pic>
    </p:spTree>
    <p:extLst>
      <p:ext uri="{BB962C8B-B14F-4D97-AF65-F5344CB8AC3E}">
        <p14:creationId xmlns:p14="http://schemas.microsoft.com/office/powerpoint/2010/main" val="1669475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F31EA1-FD48-7945-8955-B656194B5C50}"/>
              </a:ext>
            </a:extLst>
          </p:cNvPr>
          <p:cNvSpPr>
            <a:spLocks noGrp="1"/>
          </p:cNvSpPr>
          <p:nvPr>
            <p:ph type="title"/>
          </p:nvPr>
        </p:nvSpPr>
        <p:spPr/>
        <p:txBody>
          <a:bodyPr>
            <a:normAutofit/>
          </a:bodyPr>
          <a:lstStyle/>
          <a:p>
            <a:r>
              <a:rPr kumimoji="1" lang="en-US" altLang="zh-CN" sz="2800" dirty="0">
                <a:latin typeface="+mj-ea"/>
              </a:rPr>
              <a:t>CS-Transformer</a:t>
            </a:r>
            <a:r>
              <a:rPr kumimoji="1" lang="zh-CN" altLang="en-US" sz="2800" dirty="0">
                <a:latin typeface="+mj-ea"/>
              </a:rPr>
              <a:t>模型</a:t>
            </a:r>
            <a:r>
              <a:rPr kumimoji="1" lang="en-US" altLang="zh-CN" sz="2800" dirty="0">
                <a:latin typeface="+mj-ea"/>
              </a:rPr>
              <a:t>Batch</a:t>
            </a:r>
            <a:r>
              <a:rPr kumimoji="1" lang="zh-CN" altLang="en-US" sz="2800" dirty="0">
                <a:latin typeface="+mj-ea"/>
              </a:rPr>
              <a:t>超参数</a:t>
            </a:r>
          </a:p>
        </p:txBody>
      </p:sp>
      <p:sp>
        <p:nvSpPr>
          <p:cNvPr id="3" name="页脚占位符 2">
            <a:extLst>
              <a:ext uri="{FF2B5EF4-FFF2-40B4-BE49-F238E27FC236}">
                <a16:creationId xmlns:a16="http://schemas.microsoft.com/office/drawing/2014/main" id="{B8B5F6B0-2834-8748-BB2C-9C5373196C7F}"/>
              </a:ext>
            </a:extLst>
          </p:cNvPr>
          <p:cNvSpPr>
            <a:spLocks noGrp="1"/>
          </p:cNvSpPr>
          <p:nvPr>
            <p:ph type="ftr" sz="quarter" idx="11"/>
          </p:nvPr>
        </p:nvSpPr>
        <p:spPr/>
        <p:txBody>
          <a:bodyPr/>
          <a:lstStyle/>
          <a:p>
            <a:pPr algn="ctr"/>
            <a:r>
              <a:rPr lang="zh-CN" altLang="en-US" dirty="0"/>
              <a:t>刘浩</a:t>
            </a:r>
          </a:p>
        </p:txBody>
      </p:sp>
      <p:sp>
        <p:nvSpPr>
          <p:cNvPr id="4" name="灯片编号占位符 3">
            <a:extLst>
              <a:ext uri="{FF2B5EF4-FFF2-40B4-BE49-F238E27FC236}">
                <a16:creationId xmlns:a16="http://schemas.microsoft.com/office/drawing/2014/main" id="{82D53F1A-CE5C-494F-A8A4-86D42A9D0DE7}"/>
              </a:ext>
            </a:extLst>
          </p:cNvPr>
          <p:cNvSpPr>
            <a:spLocks noGrp="1"/>
          </p:cNvSpPr>
          <p:nvPr>
            <p:ph type="sldNum" sz="quarter" idx="12"/>
          </p:nvPr>
        </p:nvSpPr>
        <p:spPr/>
        <p:txBody>
          <a:bodyPr/>
          <a:lstStyle/>
          <a:p>
            <a:fld id="{6109356D-A228-4998-B89D-231CFF1B9545}" type="slidenum">
              <a:rPr lang="zh-CN" altLang="en-US" smtClean="0"/>
              <a:t>20</a:t>
            </a:fld>
            <a:endParaRPr lang="zh-CN" altLang="en-US"/>
          </a:p>
        </p:txBody>
      </p:sp>
      <p:pic>
        <p:nvPicPr>
          <p:cNvPr id="6" name="内容占位符 5">
            <a:extLst>
              <a:ext uri="{FF2B5EF4-FFF2-40B4-BE49-F238E27FC236}">
                <a16:creationId xmlns:a16="http://schemas.microsoft.com/office/drawing/2014/main" id="{A8BD393C-46AE-3D47-98FA-12D487DEE90A}"/>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554101" y="1340768"/>
            <a:ext cx="8259288" cy="4824536"/>
          </a:xfrm>
          <a:prstGeom prst="rect">
            <a:avLst/>
          </a:prstGeom>
        </p:spPr>
      </p:pic>
    </p:spTree>
    <p:extLst>
      <p:ext uri="{BB962C8B-B14F-4D97-AF65-F5344CB8AC3E}">
        <p14:creationId xmlns:p14="http://schemas.microsoft.com/office/powerpoint/2010/main" val="2354077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EBA3BC-F4DE-2A47-92BC-6F706725CCFE}"/>
              </a:ext>
            </a:extLst>
          </p:cNvPr>
          <p:cNvSpPr>
            <a:spLocks noGrp="1"/>
          </p:cNvSpPr>
          <p:nvPr>
            <p:ph type="title"/>
          </p:nvPr>
        </p:nvSpPr>
        <p:spPr/>
        <p:txBody>
          <a:bodyPr>
            <a:normAutofit/>
          </a:bodyPr>
          <a:lstStyle/>
          <a:p>
            <a:r>
              <a:rPr kumimoji="1" lang="en-US" altLang="zh-CN" sz="2800" dirty="0">
                <a:latin typeface="+mj-ea"/>
              </a:rPr>
              <a:t>CS-Transformer</a:t>
            </a:r>
            <a:r>
              <a:rPr kumimoji="1" lang="zh-CN" altLang="en-US" sz="2800" dirty="0">
                <a:latin typeface="+mj-ea"/>
              </a:rPr>
              <a:t>模型卷积核组的大小</a:t>
            </a:r>
          </a:p>
        </p:txBody>
      </p:sp>
      <p:sp>
        <p:nvSpPr>
          <p:cNvPr id="3" name="页脚占位符 2">
            <a:extLst>
              <a:ext uri="{FF2B5EF4-FFF2-40B4-BE49-F238E27FC236}">
                <a16:creationId xmlns:a16="http://schemas.microsoft.com/office/drawing/2014/main" id="{527B55D4-A851-5046-95F3-403BBB54A245}"/>
              </a:ext>
            </a:extLst>
          </p:cNvPr>
          <p:cNvSpPr>
            <a:spLocks noGrp="1"/>
          </p:cNvSpPr>
          <p:nvPr>
            <p:ph type="ftr" sz="quarter" idx="11"/>
          </p:nvPr>
        </p:nvSpPr>
        <p:spPr/>
        <p:txBody>
          <a:bodyPr/>
          <a:lstStyle/>
          <a:p>
            <a:pPr algn="ctr"/>
            <a:r>
              <a:rPr lang="zh-CN" altLang="en-US" dirty="0"/>
              <a:t>刘浩</a:t>
            </a:r>
          </a:p>
        </p:txBody>
      </p:sp>
      <p:sp>
        <p:nvSpPr>
          <p:cNvPr id="4" name="灯片编号占位符 3">
            <a:extLst>
              <a:ext uri="{FF2B5EF4-FFF2-40B4-BE49-F238E27FC236}">
                <a16:creationId xmlns:a16="http://schemas.microsoft.com/office/drawing/2014/main" id="{95D9393B-1DBE-7348-BAF5-50692D625C20}"/>
              </a:ext>
            </a:extLst>
          </p:cNvPr>
          <p:cNvSpPr>
            <a:spLocks noGrp="1"/>
          </p:cNvSpPr>
          <p:nvPr>
            <p:ph type="sldNum" sz="quarter" idx="12"/>
          </p:nvPr>
        </p:nvSpPr>
        <p:spPr/>
        <p:txBody>
          <a:bodyPr/>
          <a:lstStyle/>
          <a:p>
            <a:fld id="{6109356D-A228-4998-B89D-231CFF1B9545}" type="slidenum">
              <a:rPr lang="zh-CN" altLang="en-US" smtClean="0"/>
              <a:t>21</a:t>
            </a:fld>
            <a:endParaRPr lang="zh-CN" altLang="en-US"/>
          </a:p>
        </p:txBody>
      </p:sp>
      <p:pic>
        <p:nvPicPr>
          <p:cNvPr id="6" name="内容占位符 5">
            <a:extLst>
              <a:ext uri="{FF2B5EF4-FFF2-40B4-BE49-F238E27FC236}">
                <a16:creationId xmlns:a16="http://schemas.microsoft.com/office/drawing/2014/main" id="{6A66CDD7-8CA7-6E46-8C63-EA88EAED5EBB}"/>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57200" y="1285627"/>
            <a:ext cx="8289303" cy="4878288"/>
          </a:xfrm>
          <a:prstGeom prst="rect">
            <a:avLst/>
          </a:prstGeom>
        </p:spPr>
      </p:pic>
    </p:spTree>
    <p:extLst>
      <p:ext uri="{BB962C8B-B14F-4D97-AF65-F5344CB8AC3E}">
        <p14:creationId xmlns:p14="http://schemas.microsoft.com/office/powerpoint/2010/main" val="2113738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69AB5A-051B-6E4A-B387-C00C35CACB0C}"/>
              </a:ext>
            </a:extLst>
          </p:cNvPr>
          <p:cNvSpPr>
            <a:spLocks noGrp="1"/>
          </p:cNvSpPr>
          <p:nvPr>
            <p:ph type="title"/>
          </p:nvPr>
        </p:nvSpPr>
        <p:spPr/>
        <p:txBody>
          <a:bodyPr>
            <a:normAutofit/>
          </a:bodyPr>
          <a:lstStyle/>
          <a:p>
            <a:r>
              <a:rPr lang="zh-CN" altLang="zh-CN" sz="2800" dirty="0">
                <a:latin typeface="+mj-ea"/>
              </a:rPr>
              <a:t>不同多输入方法对</a:t>
            </a:r>
            <a:r>
              <a:rPr kumimoji="1" lang="en-US" altLang="zh-CN" sz="2800" dirty="0">
                <a:latin typeface="+mj-ea"/>
              </a:rPr>
              <a:t>CS-Transformer</a:t>
            </a:r>
            <a:r>
              <a:rPr lang="zh-CN" altLang="zh-CN" sz="2800" dirty="0">
                <a:latin typeface="+mj-ea"/>
              </a:rPr>
              <a:t>的影响</a:t>
            </a:r>
            <a:endParaRPr kumimoji="1" lang="zh-CN" altLang="en-US" sz="2800" dirty="0">
              <a:latin typeface="+mj-ea"/>
            </a:endParaRPr>
          </a:p>
        </p:txBody>
      </p:sp>
      <p:sp>
        <p:nvSpPr>
          <p:cNvPr id="3" name="页脚占位符 2">
            <a:extLst>
              <a:ext uri="{FF2B5EF4-FFF2-40B4-BE49-F238E27FC236}">
                <a16:creationId xmlns:a16="http://schemas.microsoft.com/office/drawing/2014/main" id="{F4F396BB-DF29-1847-AC07-0C35BD8C8FAD}"/>
              </a:ext>
            </a:extLst>
          </p:cNvPr>
          <p:cNvSpPr>
            <a:spLocks noGrp="1"/>
          </p:cNvSpPr>
          <p:nvPr>
            <p:ph type="ftr" sz="quarter" idx="11"/>
          </p:nvPr>
        </p:nvSpPr>
        <p:spPr/>
        <p:txBody>
          <a:bodyPr/>
          <a:lstStyle/>
          <a:p>
            <a:pPr algn="ctr"/>
            <a:r>
              <a:rPr lang="zh-CN" altLang="en-US" dirty="0"/>
              <a:t>刘浩</a:t>
            </a:r>
          </a:p>
        </p:txBody>
      </p:sp>
      <p:sp>
        <p:nvSpPr>
          <p:cNvPr id="4" name="灯片编号占位符 3">
            <a:extLst>
              <a:ext uri="{FF2B5EF4-FFF2-40B4-BE49-F238E27FC236}">
                <a16:creationId xmlns:a16="http://schemas.microsoft.com/office/drawing/2014/main" id="{7A22F273-A4B1-3547-A19B-3031D420D459}"/>
              </a:ext>
            </a:extLst>
          </p:cNvPr>
          <p:cNvSpPr>
            <a:spLocks noGrp="1"/>
          </p:cNvSpPr>
          <p:nvPr>
            <p:ph type="sldNum" sz="quarter" idx="12"/>
          </p:nvPr>
        </p:nvSpPr>
        <p:spPr/>
        <p:txBody>
          <a:bodyPr/>
          <a:lstStyle/>
          <a:p>
            <a:fld id="{6109356D-A228-4998-B89D-231CFF1B9545}" type="slidenum">
              <a:rPr lang="zh-CN" altLang="en-US" smtClean="0"/>
              <a:t>22</a:t>
            </a:fld>
            <a:endParaRPr lang="zh-CN" altLang="en-US"/>
          </a:p>
        </p:txBody>
      </p:sp>
      <p:pic>
        <p:nvPicPr>
          <p:cNvPr id="7" name="内容占位符 6">
            <a:extLst>
              <a:ext uri="{FF2B5EF4-FFF2-40B4-BE49-F238E27FC236}">
                <a16:creationId xmlns:a16="http://schemas.microsoft.com/office/drawing/2014/main" id="{093B431E-D9F6-6341-9503-E92D7E0B6DF7}"/>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57200" y="2239214"/>
            <a:ext cx="8229600" cy="2897096"/>
          </a:xfrm>
        </p:spPr>
      </p:pic>
    </p:spTree>
    <p:extLst>
      <p:ext uri="{BB962C8B-B14F-4D97-AF65-F5344CB8AC3E}">
        <p14:creationId xmlns:p14="http://schemas.microsoft.com/office/powerpoint/2010/main" val="1987811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latin typeface="+mj-ea"/>
              </a:rPr>
              <a:t>Q &amp; A</a:t>
            </a:r>
            <a:endParaRPr lang="zh-CN" altLang="en-US" sz="2800" dirty="0">
              <a:latin typeface="+mj-ea"/>
            </a:endParaRPr>
          </a:p>
        </p:txBody>
      </p:sp>
      <p:sp>
        <p:nvSpPr>
          <p:cNvPr id="3" name="页脚占位符 2"/>
          <p:cNvSpPr>
            <a:spLocks noGrp="1"/>
          </p:cNvSpPr>
          <p:nvPr>
            <p:ph type="ftr" sz="quarter" idx="11"/>
          </p:nvPr>
        </p:nvSpPr>
        <p:spPr/>
        <p:txBody>
          <a:bodyPr/>
          <a:lstStyle/>
          <a:p>
            <a:pPr algn="ctr"/>
            <a:r>
              <a:rPr lang="zh-CN" altLang="en-US"/>
              <a:t>刘浩</a:t>
            </a:r>
          </a:p>
        </p:txBody>
      </p:sp>
      <p:sp>
        <p:nvSpPr>
          <p:cNvPr id="4" name="灯片编号占位符 3"/>
          <p:cNvSpPr>
            <a:spLocks noGrp="1"/>
          </p:cNvSpPr>
          <p:nvPr>
            <p:ph type="sldNum" sz="quarter" idx="12"/>
          </p:nvPr>
        </p:nvSpPr>
        <p:spPr/>
        <p:txBody>
          <a:bodyPr/>
          <a:lstStyle/>
          <a:p>
            <a:fld id="{6109356D-A228-4998-B89D-231CFF1B9545}" type="slidenum">
              <a:rPr lang="zh-CN" altLang="en-US" smtClean="0"/>
              <a:t>23</a:t>
            </a:fld>
            <a:endParaRPr lang="zh-CN" altLang="en-US"/>
          </a:p>
        </p:txBody>
      </p:sp>
      <p:pic>
        <p:nvPicPr>
          <p:cNvPr id="9" name="内容占位符 8"/>
          <p:cNvPicPr>
            <a:picLocks noGrp="1" noChangeAspect="1"/>
          </p:cNvPicPr>
          <p:nvPr>
            <p:ph sz="quarter" idx="1"/>
          </p:nvPr>
        </p:nvPicPr>
        <p:blipFill>
          <a:blip r:embed="rId2"/>
          <a:stretch>
            <a:fillRect/>
          </a:stretch>
        </p:blipFill>
        <p:spPr>
          <a:xfrm>
            <a:off x="2190115" y="1901825"/>
            <a:ext cx="4762500" cy="3571875"/>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质朴">
  <a:themeElements>
    <a:clrScheme name="质朴">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lnDef>
      <a:spPr>
        <a:ln w="25400"/>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XMLData TextToDisplay="%DOCUMENTGUID%">{00000000-0000-0000-0000-000000000000}</XMLData>
</file>

<file path=customXml/item2.xml><?xml version="1.0" encoding="utf-8"?>
<XMLData TextToDisplay="RightsWATCHMark">7|CITI-No PII-Public|{00000000-0000-0000-0000-000000000000}</XMLData>
</file>

<file path=customXml/item3.xml><?xml version="1.0" encoding="utf-8"?>
<XMLData TextToDisplay="%CLASSIFICATIONDATETIME%">06:39 19/03/2021</XMLData>
</file>

<file path=customXml/itemProps1.xml><?xml version="1.0" encoding="utf-8"?>
<ds:datastoreItem xmlns:ds="http://schemas.openxmlformats.org/officeDocument/2006/customXml" ds:itemID="{ED74F416-2743-4AD0-B002-402118A3F25B}">
  <ds:schemaRefs/>
</ds:datastoreItem>
</file>

<file path=customXml/itemProps2.xml><?xml version="1.0" encoding="utf-8"?>
<ds:datastoreItem xmlns:ds="http://schemas.openxmlformats.org/officeDocument/2006/customXml" ds:itemID="{B34384B0-0815-4383-BE2E-82B2E66E7FB7}">
  <ds:schemaRefs/>
</ds:datastoreItem>
</file>

<file path=customXml/itemProps3.xml><?xml version="1.0" encoding="utf-8"?>
<ds:datastoreItem xmlns:ds="http://schemas.openxmlformats.org/officeDocument/2006/customXml" ds:itemID="{DE71CA4D-DC7E-4395-8B58-689566FA9761}">
  <ds:schemaRefs/>
</ds:datastoreItem>
</file>

<file path=docProps/app.xml><?xml version="1.0" encoding="utf-8"?>
<Properties xmlns="http://schemas.openxmlformats.org/officeDocument/2006/extended-properties" xmlns:vt="http://schemas.openxmlformats.org/officeDocument/2006/docPropsVTypes">
  <Template>{F03044DF-B857-1C47-A8C2-D09C5204B513}tf10001073</Template>
  <TotalTime>1119</TotalTime>
  <Words>1072</Words>
  <Application>Microsoft Office PowerPoint</Application>
  <PresentationFormat>全屏显示(4:3)</PresentationFormat>
  <Paragraphs>145</Paragraphs>
  <Slides>23</Slides>
  <Notes>7</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23</vt:i4>
      </vt:variant>
    </vt:vector>
  </HeadingPairs>
  <TitlesOfParts>
    <vt:vector size="32" baseType="lpstr">
      <vt:lpstr>SimSong</vt:lpstr>
      <vt:lpstr>黑体</vt:lpstr>
      <vt:lpstr>宋体</vt:lpstr>
      <vt:lpstr>Calibri</vt:lpstr>
      <vt:lpstr>Lucida Sans Unicode</vt:lpstr>
      <vt:lpstr>Wingdings</vt:lpstr>
      <vt:lpstr>Wingdings 3</vt:lpstr>
      <vt:lpstr>质朴</vt:lpstr>
      <vt:lpstr>Bitmap Image</vt:lpstr>
      <vt:lpstr>基于CNN与SENet的Transformer短文本分类方法研究</vt:lpstr>
      <vt:lpstr>目录</vt:lpstr>
      <vt:lpstr>研究背景</vt:lpstr>
      <vt:lpstr>研究目标</vt:lpstr>
      <vt:lpstr>研究挑战</vt:lpstr>
      <vt:lpstr>现有文本分类算法的比较</vt:lpstr>
      <vt:lpstr>为什么引入CNN与SENet在Transformer</vt:lpstr>
      <vt:lpstr>研究内容</vt:lpstr>
      <vt:lpstr>现有-CNNs for Text Classification</vt:lpstr>
      <vt:lpstr>贡献1：一维CNN后加SENet网络</vt:lpstr>
      <vt:lpstr>贡献2：CNN-SENet-Based Multi-head Attention改进</vt:lpstr>
      <vt:lpstr>基于CNN和SENet多头自注意力的详细结构图</vt:lpstr>
      <vt:lpstr> 贡献3：基于CNN与SENet的Transformer的文本分类模型</vt:lpstr>
      <vt:lpstr>贡献4：自动回复邮件系统-数据流图</vt:lpstr>
      <vt:lpstr>贡献4：自动回复邮件系统-实现</vt:lpstr>
      <vt:lpstr>贡献4：自动回复邮件系统-实现</vt:lpstr>
      <vt:lpstr>CS-transformer与常见的模型实验结果比较</vt:lpstr>
      <vt:lpstr>CS-Transformer训练评估</vt:lpstr>
      <vt:lpstr>CS-Transformer模型Encoder超参数</vt:lpstr>
      <vt:lpstr>CS-Transformer模型Batch超参数</vt:lpstr>
      <vt:lpstr>CS-Transformer模型卷积核组的大小</vt:lpstr>
      <vt:lpstr>不同多输入方法对CS-Transformer的影响</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混合SDN网络中 SDN设备增量式部署方案研究</dc:title>
  <dc:creator>huang</dc:creator>
  <cp:lastModifiedBy>刘 浩</cp:lastModifiedBy>
  <cp:revision>240</cp:revision>
  <dcterms:created xsi:type="dcterms:W3CDTF">2015-05-28T02:10:00Z</dcterms:created>
  <dcterms:modified xsi:type="dcterms:W3CDTF">2022-05-14T14:11:40Z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y fmtid="{D5CDD505-2E9C-101B-9397-08002B2CF9AE}" pid="3" name="RightsWATCHMark">
    <vt:lpwstr>7|CITI-No PII-Public|{00000000-0000-0000-0000-000000000000}</vt:lpwstr>
  </property>
</Properties>
</file>